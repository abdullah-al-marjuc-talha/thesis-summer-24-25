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27432000" cy="43891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41" d="100"/>
          <a:sy n="41" d="100"/>
        </p:scale>
        <p:origin x="1320"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7183123"/>
            <a:ext cx="23317200" cy="15280640"/>
          </a:xfrm>
        </p:spPr>
        <p:txBody>
          <a:bodyPr anchor="b"/>
          <a:lstStyle>
            <a:lvl1pPr algn="ctr">
              <a:defRPr sz="18000"/>
            </a:lvl1pPr>
          </a:lstStyle>
          <a:p>
            <a:r>
              <a:rPr lang="en-US"/>
              <a:t>Click to edit Master title style</a:t>
            </a:r>
            <a:endParaRPr lang="en-US" dirty="0"/>
          </a:p>
        </p:txBody>
      </p:sp>
      <p:sp>
        <p:nvSpPr>
          <p:cNvPr id="3" name="Subtitle 2"/>
          <p:cNvSpPr>
            <a:spLocks noGrp="1"/>
          </p:cNvSpPr>
          <p:nvPr>
            <p:ph type="subTitle" idx="1"/>
          </p:nvPr>
        </p:nvSpPr>
        <p:spPr>
          <a:xfrm>
            <a:off x="3429000" y="23053043"/>
            <a:ext cx="20574000" cy="10596877"/>
          </a:xfrm>
        </p:spPr>
        <p:txBody>
          <a:bodyPr/>
          <a:lstStyle>
            <a:lvl1pPr marL="0" indent="0" algn="ctr">
              <a:buNone/>
              <a:defRPr sz="7200"/>
            </a:lvl1pPr>
            <a:lvl2pPr marL="1371600" indent="0" algn="ctr">
              <a:buNone/>
              <a:defRPr sz="6000"/>
            </a:lvl2pPr>
            <a:lvl3pPr marL="2743200" indent="0" algn="ctr">
              <a:buNone/>
              <a:defRPr sz="5400"/>
            </a:lvl3pPr>
            <a:lvl4pPr marL="4114800" indent="0" algn="ctr">
              <a:buNone/>
              <a:defRPr sz="4800"/>
            </a:lvl4pPr>
            <a:lvl5pPr marL="5486400" indent="0" algn="ctr">
              <a:buNone/>
              <a:defRPr sz="4800"/>
            </a:lvl5pPr>
            <a:lvl6pPr marL="6858000" indent="0" algn="ctr">
              <a:buNone/>
              <a:defRPr sz="4800"/>
            </a:lvl6pPr>
            <a:lvl7pPr marL="8229600" indent="0" algn="ctr">
              <a:buNone/>
              <a:defRPr sz="4800"/>
            </a:lvl7pPr>
            <a:lvl8pPr marL="9601200" indent="0" algn="ctr">
              <a:buNone/>
              <a:defRPr sz="4800"/>
            </a:lvl8pPr>
            <a:lvl9pPr marL="10972800" indent="0" algn="ctr">
              <a:buNone/>
              <a:defRPr sz="4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6E62287-EE82-4CAC-8118-A3C92F32CD32}"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2867466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E62287-EE82-4CAC-8118-A3C92F32CD32}"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2807115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871664" y="10942333"/>
            <a:ext cx="23660100" cy="18257517"/>
          </a:xfrm>
        </p:spPr>
        <p:txBody>
          <a:bodyPr anchor="b"/>
          <a:lstStyle>
            <a:lvl1pPr>
              <a:defRPr sz="18000"/>
            </a:lvl1pPr>
          </a:lstStyle>
          <a:p>
            <a:r>
              <a:rPr lang="en-US"/>
              <a:t>Click to edit Master title style</a:t>
            </a:r>
            <a:endParaRPr lang="en-US" dirty="0"/>
          </a:p>
        </p:txBody>
      </p:sp>
      <p:sp>
        <p:nvSpPr>
          <p:cNvPr id="3" name="Text Placeholder 2"/>
          <p:cNvSpPr>
            <a:spLocks noGrp="1"/>
          </p:cNvSpPr>
          <p:nvPr>
            <p:ph type="body" idx="1"/>
          </p:nvPr>
        </p:nvSpPr>
        <p:spPr>
          <a:xfrm>
            <a:off x="1871664" y="29372573"/>
            <a:ext cx="23660100" cy="9601197"/>
          </a:xfrm>
        </p:spPr>
        <p:txBody>
          <a:bodyPr/>
          <a:lstStyle>
            <a:lvl1pPr marL="0" indent="0">
              <a:buNone/>
              <a:defRPr sz="7200">
                <a:solidFill>
                  <a:schemeClr val="tx1">
                    <a:tint val="82000"/>
                  </a:schemeClr>
                </a:solidFill>
              </a:defRPr>
            </a:lvl1pPr>
            <a:lvl2pPr marL="1371600" indent="0">
              <a:buNone/>
              <a:defRPr sz="6000">
                <a:solidFill>
                  <a:schemeClr val="tx1">
                    <a:tint val="82000"/>
                  </a:schemeClr>
                </a:solidFill>
              </a:defRPr>
            </a:lvl2pPr>
            <a:lvl3pPr marL="2743200" indent="0">
              <a:buNone/>
              <a:defRPr sz="5400">
                <a:solidFill>
                  <a:schemeClr val="tx1">
                    <a:tint val="82000"/>
                  </a:schemeClr>
                </a:solidFill>
              </a:defRPr>
            </a:lvl3pPr>
            <a:lvl4pPr marL="4114800" indent="0">
              <a:buNone/>
              <a:defRPr sz="4800">
                <a:solidFill>
                  <a:schemeClr val="tx1">
                    <a:tint val="82000"/>
                  </a:schemeClr>
                </a:solidFill>
              </a:defRPr>
            </a:lvl4pPr>
            <a:lvl5pPr marL="5486400" indent="0">
              <a:buNone/>
              <a:defRPr sz="4800">
                <a:solidFill>
                  <a:schemeClr val="tx1">
                    <a:tint val="82000"/>
                  </a:schemeClr>
                </a:solidFill>
              </a:defRPr>
            </a:lvl5pPr>
            <a:lvl6pPr marL="6858000" indent="0">
              <a:buNone/>
              <a:defRPr sz="4800">
                <a:solidFill>
                  <a:schemeClr val="tx1">
                    <a:tint val="82000"/>
                  </a:schemeClr>
                </a:solidFill>
              </a:defRPr>
            </a:lvl6pPr>
            <a:lvl7pPr marL="8229600" indent="0">
              <a:buNone/>
              <a:defRPr sz="4800">
                <a:solidFill>
                  <a:schemeClr val="tx1">
                    <a:tint val="82000"/>
                  </a:schemeClr>
                </a:solidFill>
              </a:defRPr>
            </a:lvl7pPr>
            <a:lvl8pPr marL="9601200" indent="0">
              <a:buNone/>
              <a:defRPr sz="4800">
                <a:solidFill>
                  <a:schemeClr val="tx1">
                    <a:tint val="82000"/>
                  </a:schemeClr>
                </a:solidFill>
              </a:defRPr>
            </a:lvl8pPr>
            <a:lvl9pPr marL="10972800" indent="0">
              <a:buNone/>
              <a:defRPr sz="4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E62287-EE82-4CAC-8118-A3C92F32CD32}"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1241292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885950" y="11684000"/>
            <a:ext cx="1165860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3887450" y="11684000"/>
            <a:ext cx="1165860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6E62287-EE82-4CAC-8118-A3C92F32CD32}"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886500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889523" y="2336810"/>
            <a:ext cx="23660100" cy="848360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889526" y="10759443"/>
            <a:ext cx="11605020" cy="5273037"/>
          </a:xfrm>
        </p:spPr>
        <p:txBody>
          <a:bodyPr anchor="b"/>
          <a:lstStyle>
            <a:lvl1pPr marL="0" indent="0">
              <a:buNone/>
              <a:defRPr sz="7200" b="1"/>
            </a:lvl1pPr>
            <a:lvl2pPr marL="1371600" indent="0">
              <a:buNone/>
              <a:defRPr sz="6000" b="1"/>
            </a:lvl2pPr>
            <a:lvl3pPr marL="2743200" indent="0">
              <a:buNone/>
              <a:defRPr sz="5400" b="1"/>
            </a:lvl3pPr>
            <a:lvl4pPr marL="4114800" indent="0">
              <a:buNone/>
              <a:defRPr sz="4800" b="1"/>
            </a:lvl4pPr>
            <a:lvl5pPr marL="5486400" indent="0">
              <a:buNone/>
              <a:defRPr sz="4800" b="1"/>
            </a:lvl5pPr>
            <a:lvl6pPr marL="6858000" indent="0">
              <a:buNone/>
              <a:defRPr sz="4800" b="1"/>
            </a:lvl6pPr>
            <a:lvl7pPr marL="8229600" indent="0">
              <a:buNone/>
              <a:defRPr sz="4800" b="1"/>
            </a:lvl7pPr>
            <a:lvl8pPr marL="9601200" indent="0">
              <a:buNone/>
              <a:defRPr sz="4800" b="1"/>
            </a:lvl8pPr>
            <a:lvl9pPr marL="10972800" indent="0">
              <a:buNone/>
              <a:defRPr sz="4800" b="1"/>
            </a:lvl9pPr>
          </a:lstStyle>
          <a:p>
            <a:pPr lvl="0"/>
            <a:r>
              <a:rPr lang="en-US"/>
              <a:t>Click to edit Master text styles</a:t>
            </a:r>
          </a:p>
        </p:txBody>
      </p:sp>
      <p:sp>
        <p:nvSpPr>
          <p:cNvPr id="4" name="Content Placeholder 3"/>
          <p:cNvSpPr>
            <a:spLocks noGrp="1"/>
          </p:cNvSpPr>
          <p:nvPr>
            <p:ph sz="half" idx="2"/>
          </p:nvPr>
        </p:nvSpPr>
        <p:spPr>
          <a:xfrm>
            <a:off x="1889526" y="16032480"/>
            <a:ext cx="11605020"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3887452" y="10759443"/>
            <a:ext cx="11662173" cy="5273037"/>
          </a:xfrm>
        </p:spPr>
        <p:txBody>
          <a:bodyPr anchor="b"/>
          <a:lstStyle>
            <a:lvl1pPr marL="0" indent="0">
              <a:buNone/>
              <a:defRPr sz="7200" b="1"/>
            </a:lvl1pPr>
            <a:lvl2pPr marL="1371600" indent="0">
              <a:buNone/>
              <a:defRPr sz="6000" b="1"/>
            </a:lvl2pPr>
            <a:lvl3pPr marL="2743200" indent="0">
              <a:buNone/>
              <a:defRPr sz="5400" b="1"/>
            </a:lvl3pPr>
            <a:lvl4pPr marL="4114800" indent="0">
              <a:buNone/>
              <a:defRPr sz="4800" b="1"/>
            </a:lvl4pPr>
            <a:lvl5pPr marL="5486400" indent="0">
              <a:buNone/>
              <a:defRPr sz="4800" b="1"/>
            </a:lvl5pPr>
            <a:lvl6pPr marL="6858000" indent="0">
              <a:buNone/>
              <a:defRPr sz="4800" b="1"/>
            </a:lvl6pPr>
            <a:lvl7pPr marL="8229600" indent="0">
              <a:buNone/>
              <a:defRPr sz="4800" b="1"/>
            </a:lvl7pPr>
            <a:lvl8pPr marL="9601200" indent="0">
              <a:buNone/>
              <a:defRPr sz="4800" b="1"/>
            </a:lvl8pPr>
            <a:lvl9pPr marL="10972800" indent="0">
              <a:buNone/>
              <a:defRPr sz="4800" b="1"/>
            </a:lvl9pPr>
          </a:lstStyle>
          <a:p>
            <a:pPr lvl="0"/>
            <a:r>
              <a:rPr lang="en-US"/>
              <a:t>Click to edit Master text styles</a:t>
            </a:r>
          </a:p>
        </p:txBody>
      </p:sp>
      <p:sp>
        <p:nvSpPr>
          <p:cNvPr id="6" name="Content Placeholder 5"/>
          <p:cNvSpPr>
            <a:spLocks noGrp="1"/>
          </p:cNvSpPr>
          <p:nvPr>
            <p:ph sz="quarter" idx="4"/>
          </p:nvPr>
        </p:nvSpPr>
        <p:spPr>
          <a:xfrm>
            <a:off x="13887452" y="16032480"/>
            <a:ext cx="11662173"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E62287-EE82-4CAC-8118-A3C92F32CD32}" type="datetimeFigureOut">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3223438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6E62287-EE82-4CAC-8118-A3C92F32CD32}"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910995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E62287-EE82-4CAC-8118-A3C92F32CD32}" type="datetimeFigureOut">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2667116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89523" y="2926080"/>
            <a:ext cx="8847534" cy="10241280"/>
          </a:xfrm>
        </p:spPr>
        <p:txBody>
          <a:bodyPr anchor="b"/>
          <a:lstStyle>
            <a:lvl1pPr>
              <a:defRPr sz="9600"/>
            </a:lvl1pPr>
          </a:lstStyle>
          <a:p>
            <a:r>
              <a:rPr lang="en-US"/>
              <a:t>Click to edit Master title style</a:t>
            </a:r>
            <a:endParaRPr lang="en-US" dirty="0"/>
          </a:p>
        </p:txBody>
      </p:sp>
      <p:sp>
        <p:nvSpPr>
          <p:cNvPr id="3" name="Content Placeholder 2"/>
          <p:cNvSpPr>
            <a:spLocks noGrp="1"/>
          </p:cNvSpPr>
          <p:nvPr>
            <p:ph idx="1"/>
          </p:nvPr>
        </p:nvSpPr>
        <p:spPr>
          <a:xfrm>
            <a:off x="11662173" y="6319530"/>
            <a:ext cx="13887450" cy="31191200"/>
          </a:xfrm>
        </p:spPr>
        <p:txBody>
          <a:bodyPr/>
          <a:lstStyle>
            <a:lvl1pPr>
              <a:defRPr sz="9600"/>
            </a:lvl1pPr>
            <a:lvl2pPr>
              <a:defRPr sz="8400"/>
            </a:lvl2pPr>
            <a:lvl3pPr>
              <a:defRPr sz="7200"/>
            </a:lvl3pPr>
            <a:lvl4pPr>
              <a:defRPr sz="6000"/>
            </a:lvl4pPr>
            <a:lvl5pPr>
              <a:defRPr sz="6000"/>
            </a:lvl5pPr>
            <a:lvl6pPr>
              <a:defRPr sz="6000"/>
            </a:lvl6pPr>
            <a:lvl7pPr>
              <a:defRPr sz="6000"/>
            </a:lvl7pPr>
            <a:lvl8pPr>
              <a:defRPr sz="6000"/>
            </a:lvl8pPr>
            <a:lvl9pPr>
              <a:defRPr sz="6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889523" y="13167360"/>
            <a:ext cx="8847534" cy="24394163"/>
          </a:xfrm>
        </p:spPr>
        <p:txBody>
          <a:bodyPr/>
          <a:lstStyle>
            <a:lvl1pPr marL="0" indent="0">
              <a:buNone/>
              <a:defRPr sz="4800"/>
            </a:lvl1pPr>
            <a:lvl2pPr marL="1371600" indent="0">
              <a:buNone/>
              <a:defRPr sz="4200"/>
            </a:lvl2pPr>
            <a:lvl3pPr marL="2743200" indent="0">
              <a:buNone/>
              <a:defRPr sz="3600"/>
            </a:lvl3pPr>
            <a:lvl4pPr marL="4114800" indent="0">
              <a:buNone/>
              <a:defRPr sz="3000"/>
            </a:lvl4pPr>
            <a:lvl5pPr marL="5486400" indent="0">
              <a:buNone/>
              <a:defRPr sz="3000"/>
            </a:lvl5pPr>
            <a:lvl6pPr marL="6858000" indent="0">
              <a:buNone/>
              <a:defRPr sz="3000"/>
            </a:lvl6pPr>
            <a:lvl7pPr marL="8229600" indent="0">
              <a:buNone/>
              <a:defRPr sz="3000"/>
            </a:lvl7pPr>
            <a:lvl8pPr marL="9601200" indent="0">
              <a:buNone/>
              <a:defRPr sz="3000"/>
            </a:lvl8pPr>
            <a:lvl9pPr marL="10972800" indent="0">
              <a:buNone/>
              <a:defRPr sz="3000"/>
            </a:lvl9pPr>
          </a:lstStyle>
          <a:p>
            <a:pPr lvl="0"/>
            <a:r>
              <a:rPr lang="en-US"/>
              <a:t>Click to edit Master text styles</a:t>
            </a:r>
          </a:p>
        </p:txBody>
      </p:sp>
      <p:sp>
        <p:nvSpPr>
          <p:cNvPr id="5" name="Date Placeholder 4"/>
          <p:cNvSpPr>
            <a:spLocks noGrp="1"/>
          </p:cNvSpPr>
          <p:nvPr>
            <p:ph type="dt" sz="half" idx="10"/>
          </p:nvPr>
        </p:nvSpPr>
        <p:spPr/>
        <p:txBody>
          <a:bodyPr/>
          <a:lstStyle/>
          <a:p>
            <a:fld id="{36E62287-EE82-4CAC-8118-A3C92F32CD32}"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389112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89523" y="2926080"/>
            <a:ext cx="8847534" cy="10241280"/>
          </a:xfrm>
        </p:spPr>
        <p:txBody>
          <a:bodyPr anchor="b"/>
          <a:lstStyle>
            <a:lvl1pPr>
              <a:defRPr sz="9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62173" y="6319530"/>
            <a:ext cx="13887450" cy="31191200"/>
          </a:xfrm>
        </p:spPr>
        <p:txBody>
          <a:bodyPr anchor="t"/>
          <a:lstStyle>
            <a:lvl1pPr marL="0" indent="0">
              <a:buNone/>
              <a:defRPr sz="9600"/>
            </a:lvl1pPr>
            <a:lvl2pPr marL="1371600" indent="0">
              <a:buNone/>
              <a:defRPr sz="8400"/>
            </a:lvl2pPr>
            <a:lvl3pPr marL="2743200" indent="0">
              <a:buNone/>
              <a:defRPr sz="7200"/>
            </a:lvl3pPr>
            <a:lvl4pPr marL="4114800" indent="0">
              <a:buNone/>
              <a:defRPr sz="6000"/>
            </a:lvl4pPr>
            <a:lvl5pPr marL="5486400" indent="0">
              <a:buNone/>
              <a:defRPr sz="6000"/>
            </a:lvl5pPr>
            <a:lvl6pPr marL="6858000" indent="0">
              <a:buNone/>
              <a:defRPr sz="6000"/>
            </a:lvl6pPr>
            <a:lvl7pPr marL="8229600" indent="0">
              <a:buNone/>
              <a:defRPr sz="6000"/>
            </a:lvl7pPr>
            <a:lvl8pPr marL="9601200" indent="0">
              <a:buNone/>
              <a:defRPr sz="6000"/>
            </a:lvl8pPr>
            <a:lvl9pPr marL="10972800" indent="0">
              <a:buNone/>
              <a:defRPr sz="6000"/>
            </a:lvl9pPr>
          </a:lstStyle>
          <a:p>
            <a:r>
              <a:rPr lang="en-US"/>
              <a:t>Click icon to add picture</a:t>
            </a:r>
            <a:endParaRPr lang="en-US" dirty="0"/>
          </a:p>
        </p:txBody>
      </p:sp>
      <p:sp>
        <p:nvSpPr>
          <p:cNvPr id="4" name="Text Placeholder 3"/>
          <p:cNvSpPr>
            <a:spLocks noGrp="1"/>
          </p:cNvSpPr>
          <p:nvPr>
            <p:ph type="body" sz="half" idx="2"/>
          </p:nvPr>
        </p:nvSpPr>
        <p:spPr>
          <a:xfrm>
            <a:off x="1889523" y="13167360"/>
            <a:ext cx="8847534" cy="24394163"/>
          </a:xfrm>
        </p:spPr>
        <p:txBody>
          <a:bodyPr/>
          <a:lstStyle>
            <a:lvl1pPr marL="0" indent="0">
              <a:buNone/>
              <a:defRPr sz="4800"/>
            </a:lvl1pPr>
            <a:lvl2pPr marL="1371600" indent="0">
              <a:buNone/>
              <a:defRPr sz="4200"/>
            </a:lvl2pPr>
            <a:lvl3pPr marL="2743200" indent="0">
              <a:buNone/>
              <a:defRPr sz="3600"/>
            </a:lvl3pPr>
            <a:lvl4pPr marL="4114800" indent="0">
              <a:buNone/>
              <a:defRPr sz="3000"/>
            </a:lvl4pPr>
            <a:lvl5pPr marL="5486400" indent="0">
              <a:buNone/>
              <a:defRPr sz="3000"/>
            </a:lvl5pPr>
            <a:lvl6pPr marL="6858000" indent="0">
              <a:buNone/>
              <a:defRPr sz="3000"/>
            </a:lvl6pPr>
            <a:lvl7pPr marL="8229600" indent="0">
              <a:buNone/>
              <a:defRPr sz="3000"/>
            </a:lvl7pPr>
            <a:lvl8pPr marL="9601200" indent="0">
              <a:buNone/>
              <a:defRPr sz="3000"/>
            </a:lvl8pPr>
            <a:lvl9pPr marL="10972800" indent="0">
              <a:buNone/>
              <a:defRPr sz="3000"/>
            </a:lvl9pPr>
          </a:lstStyle>
          <a:p>
            <a:pPr lvl="0"/>
            <a:r>
              <a:rPr lang="en-US"/>
              <a:t>Click to edit Master text styles</a:t>
            </a:r>
          </a:p>
        </p:txBody>
      </p:sp>
      <p:sp>
        <p:nvSpPr>
          <p:cNvPr id="5" name="Date Placeholder 4"/>
          <p:cNvSpPr>
            <a:spLocks noGrp="1"/>
          </p:cNvSpPr>
          <p:nvPr>
            <p:ph type="dt" sz="half" idx="10"/>
          </p:nvPr>
        </p:nvSpPr>
        <p:spPr/>
        <p:txBody>
          <a:bodyPr/>
          <a:lstStyle/>
          <a:p>
            <a:fld id="{36E62287-EE82-4CAC-8118-A3C92F32CD32}"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378056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E62287-EE82-4CAC-8118-A3C92F32CD32}"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604535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9631027" y="2336800"/>
            <a:ext cx="5915025" cy="3719576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885952" y="2336800"/>
            <a:ext cx="17402175" cy="37195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E62287-EE82-4CAC-8118-A3C92F32CD32}"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32180298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7183123"/>
            <a:ext cx="23317200" cy="15280640"/>
          </a:xfrm>
        </p:spPr>
        <p:txBody>
          <a:bodyPr anchor="b"/>
          <a:lstStyle>
            <a:lvl1pPr algn="ctr">
              <a:defRPr sz="17999"/>
            </a:lvl1pPr>
          </a:lstStyle>
          <a:p>
            <a:r>
              <a:rPr lang="en-US"/>
              <a:t>Click to edit Master title style</a:t>
            </a:r>
            <a:endParaRPr lang="en-US" dirty="0"/>
          </a:p>
        </p:txBody>
      </p:sp>
      <p:sp>
        <p:nvSpPr>
          <p:cNvPr id="3" name="Subtitle 2"/>
          <p:cNvSpPr>
            <a:spLocks noGrp="1"/>
          </p:cNvSpPr>
          <p:nvPr>
            <p:ph type="subTitle" idx="1"/>
          </p:nvPr>
        </p:nvSpPr>
        <p:spPr>
          <a:xfrm>
            <a:off x="3429000" y="23053046"/>
            <a:ext cx="20574000" cy="10596877"/>
          </a:xfrm>
        </p:spPr>
        <p:txBody>
          <a:bodyPr/>
          <a:lstStyle>
            <a:lvl1pPr marL="0" indent="0" algn="ctr">
              <a:buNone/>
              <a:defRPr sz="7200"/>
            </a:lvl1pPr>
            <a:lvl2pPr marL="1371545" indent="0" algn="ctr">
              <a:buNone/>
              <a:defRPr sz="6000"/>
            </a:lvl2pPr>
            <a:lvl3pPr marL="2743090" indent="0" algn="ctr">
              <a:buNone/>
              <a:defRPr sz="5400"/>
            </a:lvl3pPr>
            <a:lvl4pPr marL="4114635" indent="0" algn="ctr">
              <a:buNone/>
              <a:defRPr sz="4800"/>
            </a:lvl4pPr>
            <a:lvl5pPr marL="5486181" indent="0" algn="ctr">
              <a:buNone/>
              <a:defRPr sz="4800"/>
            </a:lvl5pPr>
            <a:lvl6pPr marL="6857726" indent="0" algn="ctr">
              <a:buNone/>
              <a:defRPr sz="4800"/>
            </a:lvl6pPr>
            <a:lvl7pPr marL="8229271" indent="0" algn="ctr">
              <a:buNone/>
              <a:defRPr sz="4800"/>
            </a:lvl7pPr>
            <a:lvl8pPr marL="9600816" indent="0" algn="ctr">
              <a:buNone/>
              <a:defRPr sz="4800"/>
            </a:lvl8pPr>
            <a:lvl9pPr marL="10972361" indent="0" algn="ctr">
              <a:buNone/>
              <a:defRPr sz="4800"/>
            </a:lvl9pPr>
          </a:lstStyle>
          <a:p>
            <a:r>
              <a:rPr lang="en-US" dirty="0"/>
              <a:t>Click to edit Master subtitle style</a:t>
            </a:r>
          </a:p>
        </p:txBody>
      </p:sp>
      <p:sp>
        <p:nvSpPr>
          <p:cNvPr id="4" name="Date Placeholder 3"/>
          <p:cNvSpPr>
            <a:spLocks noGrp="1"/>
          </p:cNvSpPr>
          <p:nvPr>
            <p:ph type="dt" sz="half" idx="10"/>
          </p:nvPr>
        </p:nvSpPr>
        <p:spPr/>
        <p:txBody>
          <a:bodyPr/>
          <a:lstStyle/>
          <a:p>
            <a:fld id="{36E62287-EE82-4CAC-8118-A3C92F32CD32}"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
        <p:nvSpPr>
          <p:cNvPr id="10" name="Picture Placeholder 9">
            <a:extLst>
              <a:ext uri="{FF2B5EF4-FFF2-40B4-BE49-F238E27FC236}">
                <a16:creationId xmlns:a16="http://schemas.microsoft.com/office/drawing/2014/main" id="{E8BB8BF0-1B62-88D2-2AA9-9DD641B32A05}"/>
              </a:ext>
            </a:extLst>
          </p:cNvPr>
          <p:cNvSpPr>
            <a:spLocks noGrp="1"/>
          </p:cNvSpPr>
          <p:nvPr>
            <p:ph type="pic" sz="quarter" idx="13"/>
          </p:nvPr>
        </p:nvSpPr>
        <p:spPr>
          <a:xfrm>
            <a:off x="2641336" y="20495188"/>
            <a:ext cx="3657864" cy="4526437"/>
          </a:xfrm>
        </p:spPr>
        <p:txBody>
          <a:bodyPr/>
          <a:lstStyle/>
          <a:p>
            <a:endParaRPr lang="en-US" dirty="0"/>
          </a:p>
        </p:txBody>
      </p:sp>
    </p:spTree>
    <p:extLst>
      <p:ext uri="{BB962C8B-B14F-4D97-AF65-F5344CB8AC3E}">
        <p14:creationId xmlns:p14="http://schemas.microsoft.com/office/powerpoint/2010/main" val="1446868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85950" y="2336810"/>
            <a:ext cx="23660100" cy="848360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885950" y="11684000"/>
            <a:ext cx="23660100" cy="27848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885950" y="40680650"/>
            <a:ext cx="6172200" cy="2336800"/>
          </a:xfrm>
          <a:prstGeom prst="rect">
            <a:avLst/>
          </a:prstGeom>
        </p:spPr>
        <p:txBody>
          <a:bodyPr vert="horz" lIns="91440" tIns="45720" rIns="91440" bIns="45720" rtlCol="0" anchor="ctr"/>
          <a:lstStyle>
            <a:lvl1pPr algn="l">
              <a:defRPr sz="3600">
                <a:solidFill>
                  <a:schemeClr val="tx1">
                    <a:tint val="82000"/>
                  </a:schemeClr>
                </a:solidFill>
              </a:defRPr>
            </a:lvl1pPr>
          </a:lstStyle>
          <a:p>
            <a:fld id="{36E62287-EE82-4CAC-8118-A3C92F32CD32}" type="datetimeFigureOut">
              <a:rPr lang="en-US" smtClean="0"/>
              <a:t>12/2/2025</a:t>
            </a:fld>
            <a:endParaRPr lang="en-US"/>
          </a:p>
        </p:txBody>
      </p:sp>
      <p:sp>
        <p:nvSpPr>
          <p:cNvPr id="5" name="Footer Placeholder 4"/>
          <p:cNvSpPr>
            <a:spLocks noGrp="1"/>
          </p:cNvSpPr>
          <p:nvPr>
            <p:ph type="ftr" sz="quarter" idx="3"/>
          </p:nvPr>
        </p:nvSpPr>
        <p:spPr>
          <a:xfrm>
            <a:off x="9086850" y="40680650"/>
            <a:ext cx="9258300" cy="2336800"/>
          </a:xfrm>
          <a:prstGeom prst="rect">
            <a:avLst/>
          </a:prstGeom>
        </p:spPr>
        <p:txBody>
          <a:bodyPr vert="horz" lIns="91440" tIns="45720" rIns="91440" bIns="45720" rtlCol="0" anchor="ctr"/>
          <a:lstStyle>
            <a:lvl1pPr algn="ctr">
              <a:defRPr sz="36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9373850" y="40680650"/>
            <a:ext cx="6172200" cy="2336800"/>
          </a:xfrm>
          <a:prstGeom prst="rect">
            <a:avLst/>
          </a:prstGeom>
        </p:spPr>
        <p:txBody>
          <a:bodyPr vert="horz" lIns="91440" tIns="45720" rIns="91440" bIns="45720" rtlCol="0" anchor="ctr"/>
          <a:lstStyle>
            <a:lvl1pPr algn="r">
              <a:defRPr sz="3600">
                <a:solidFill>
                  <a:schemeClr val="tx1">
                    <a:tint val="82000"/>
                  </a:schemeClr>
                </a:solidFill>
              </a:defRPr>
            </a:lvl1pPr>
          </a:lstStyle>
          <a:p>
            <a:fld id="{958B3A4A-BAB8-48FE-8D64-764B793361B2}" type="slidenum">
              <a:rPr lang="en-US" smtClean="0"/>
              <a:t>‹#›</a:t>
            </a:fld>
            <a:endParaRPr lang="en-US"/>
          </a:p>
        </p:txBody>
      </p:sp>
    </p:spTree>
    <p:extLst>
      <p:ext uri="{BB962C8B-B14F-4D97-AF65-F5344CB8AC3E}">
        <p14:creationId xmlns:p14="http://schemas.microsoft.com/office/powerpoint/2010/main" val="125478762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2743200" rtl="0" eaLnBrk="1" latinLnBrk="0" hangingPunct="1">
        <a:lnSpc>
          <a:spcPct val="90000"/>
        </a:lnSpc>
        <a:spcBef>
          <a:spcPct val="0"/>
        </a:spcBef>
        <a:buNone/>
        <a:defRPr sz="13200" kern="1200">
          <a:solidFill>
            <a:schemeClr val="tx1"/>
          </a:solidFill>
          <a:latin typeface="+mj-lt"/>
          <a:ea typeface="+mj-ea"/>
          <a:cs typeface="+mj-cs"/>
        </a:defRPr>
      </a:lvl1pPr>
    </p:titleStyle>
    <p:body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jp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jpg"/><Relationship Id="rId17" Type="http://schemas.openxmlformats.org/officeDocument/2006/relationships/image" Target="../media/image16.png"/><Relationship Id="rId2" Type="http://schemas.openxmlformats.org/officeDocument/2006/relationships/image" Target="../media/image1.jpg"/><Relationship Id="rId16" Type="http://schemas.openxmlformats.org/officeDocument/2006/relationships/image" Target="../media/image15.jpg"/><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jp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jp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diagram&#10;&#10;AI-generated content may be incorrect.">
            <a:extLst>
              <a:ext uri="{FF2B5EF4-FFF2-40B4-BE49-F238E27FC236}">
                <a16:creationId xmlns:a16="http://schemas.microsoft.com/office/drawing/2014/main" id="{E86B6840-07F6-3990-6485-362ACC4861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944" y="20749302"/>
            <a:ext cx="8646101" cy="4043062"/>
          </a:xfrm>
          <a:prstGeom prst="rect">
            <a:avLst/>
          </a:prstGeom>
        </p:spPr>
      </p:pic>
      <p:sp>
        <p:nvSpPr>
          <p:cNvPr id="4" name="Rectangle 3">
            <a:extLst>
              <a:ext uri="{FF2B5EF4-FFF2-40B4-BE49-F238E27FC236}">
                <a16:creationId xmlns:a16="http://schemas.microsoft.com/office/drawing/2014/main" id="{4AD58C19-3F11-8F0C-3135-48E3F9B72BD5}"/>
              </a:ext>
            </a:extLst>
          </p:cNvPr>
          <p:cNvSpPr>
            <a:spLocks noGrp="1" noRot="1" noMove="1" noResize="1" noEditPoints="1" noAdjustHandles="1" noChangeArrowheads="1" noChangeShapeType="1"/>
          </p:cNvSpPr>
          <p:nvPr/>
        </p:nvSpPr>
        <p:spPr>
          <a:xfrm>
            <a:off x="0" y="0"/>
            <a:ext cx="27432000" cy="3425825"/>
          </a:xfrm>
          <a:prstGeom prst="rect">
            <a:avLst/>
          </a:prstGeom>
          <a:solidFill>
            <a:schemeClr val="tx2">
              <a:lumMod val="75000"/>
              <a:lumOff val="2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dirty="0"/>
          </a:p>
        </p:txBody>
      </p:sp>
      <p:sp>
        <p:nvSpPr>
          <p:cNvPr id="8" name="TextBox 7">
            <a:extLst>
              <a:ext uri="{FF2B5EF4-FFF2-40B4-BE49-F238E27FC236}">
                <a16:creationId xmlns:a16="http://schemas.microsoft.com/office/drawing/2014/main" id="{E52BCD7D-3B81-005A-DD36-8B00EB4A180F}"/>
              </a:ext>
            </a:extLst>
          </p:cNvPr>
          <p:cNvSpPr txBox="1">
            <a:spLocks noGrp="1" noRot="1" noMove="1" noResize="1" noEditPoints="1" noAdjustHandles="1" noChangeArrowheads="1" noChangeShapeType="1"/>
          </p:cNvSpPr>
          <p:nvPr/>
        </p:nvSpPr>
        <p:spPr>
          <a:xfrm>
            <a:off x="957742" y="776114"/>
            <a:ext cx="16363950" cy="810350"/>
          </a:xfrm>
          <a:prstGeom prst="rect">
            <a:avLst/>
          </a:prstGeom>
          <a:noFill/>
        </p:spPr>
        <p:txBody>
          <a:bodyPr wrap="square">
            <a:spAutoFit/>
          </a:bodyPr>
          <a:lstStyle/>
          <a:p>
            <a:r>
              <a:rPr lang="en-US" sz="4666" dirty="0">
                <a:solidFill>
                  <a:schemeClr val="bg2"/>
                </a:solidFill>
                <a:latin typeface="Cambria" panose="02040503050406030204" pitchFamily="18" charset="0"/>
                <a:ea typeface="Cambria" panose="02040503050406030204" pitchFamily="18" charset="0"/>
              </a:rPr>
              <a:t>Confidence Detection System</a:t>
            </a:r>
          </a:p>
        </p:txBody>
      </p:sp>
      <p:sp>
        <p:nvSpPr>
          <p:cNvPr id="12" name="TextBox 11">
            <a:extLst>
              <a:ext uri="{FF2B5EF4-FFF2-40B4-BE49-F238E27FC236}">
                <a16:creationId xmlns:a16="http://schemas.microsoft.com/office/drawing/2014/main" id="{6C5FC02B-8ADF-7B47-2F40-24D412BC06CD}"/>
              </a:ext>
            </a:extLst>
          </p:cNvPr>
          <p:cNvSpPr txBox="1">
            <a:spLocks noGrp="1" noRot="1" noMove="1" noResize="1" noEditPoints="1" noAdjustHandles="1" noChangeArrowheads="1" noChangeShapeType="1"/>
          </p:cNvSpPr>
          <p:nvPr/>
        </p:nvSpPr>
        <p:spPr>
          <a:xfrm>
            <a:off x="895350" y="1750517"/>
            <a:ext cx="13722350" cy="707886"/>
          </a:xfrm>
          <a:prstGeom prst="rect">
            <a:avLst/>
          </a:prstGeom>
          <a:noFill/>
        </p:spPr>
        <p:txBody>
          <a:bodyPr wrap="square">
            <a:spAutoFit/>
          </a:bodyPr>
          <a:lstStyle/>
          <a:p>
            <a:r>
              <a:rPr lang="en-US" sz="4000" dirty="0">
                <a:solidFill>
                  <a:schemeClr val="bg2"/>
                </a:solidFill>
                <a:latin typeface="Cambria" panose="02040503050406030204" pitchFamily="18" charset="0"/>
                <a:ea typeface="Cambria" panose="02040503050406030204" pitchFamily="18" charset="0"/>
              </a:rPr>
              <a:t>Real-time Multimodal Confidence Analysis</a:t>
            </a:r>
          </a:p>
        </p:txBody>
      </p:sp>
      <p:sp>
        <p:nvSpPr>
          <p:cNvPr id="14" name="TextBox 13">
            <a:extLst>
              <a:ext uri="{FF2B5EF4-FFF2-40B4-BE49-F238E27FC236}">
                <a16:creationId xmlns:a16="http://schemas.microsoft.com/office/drawing/2014/main" id="{BED68CFF-0D43-E6ED-92A9-0D197402D8AD}"/>
              </a:ext>
            </a:extLst>
          </p:cNvPr>
          <p:cNvSpPr txBox="1">
            <a:spLocks/>
          </p:cNvSpPr>
          <p:nvPr/>
        </p:nvSpPr>
        <p:spPr>
          <a:xfrm>
            <a:off x="895350" y="2659410"/>
            <a:ext cx="19655790" cy="451342"/>
          </a:xfrm>
          <a:prstGeom prst="rect">
            <a:avLst/>
          </a:prstGeom>
          <a:noFill/>
        </p:spPr>
        <p:txBody>
          <a:bodyPr wrap="square">
            <a:spAutoFit/>
          </a:bodyPr>
          <a:lstStyle/>
          <a:p>
            <a:pPr>
              <a:spcBef>
                <a:spcPts val="1500"/>
              </a:spcBef>
              <a:defRPr/>
            </a:pPr>
            <a:r>
              <a:rPr lang="en-US" altLang="en-US" sz="2333" dirty="0">
                <a:solidFill>
                  <a:schemeClr val="bg1"/>
                </a:solidFill>
                <a:latin typeface="Cambria" panose="02040503050406030204" pitchFamily="18" charset="0"/>
                <a:ea typeface="Cambria" panose="02040503050406030204" pitchFamily="18" charset="0"/>
              </a:rPr>
              <a:t>RUBAYET ALAM AZAN (22-46888-1), S.M. NAFEES HOSSAIN NILOY (22-47333-2), AL FAHAD (22-47125-1), ABDULLAH AL MARJUC TALHA (22-47294-1)</a:t>
            </a:r>
          </a:p>
        </p:txBody>
      </p:sp>
      <p:sp>
        <p:nvSpPr>
          <p:cNvPr id="15" name="Rectangle 14">
            <a:extLst>
              <a:ext uri="{FF2B5EF4-FFF2-40B4-BE49-F238E27FC236}">
                <a16:creationId xmlns:a16="http://schemas.microsoft.com/office/drawing/2014/main" id="{D5728DCB-21B5-9CA7-DFC9-C2644A953AC2}"/>
              </a:ext>
            </a:extLst>
          </p:cNvPr>
          <p:cNvSpPr>
            <a:spLocks noGrp="1" noRot="1" noMove="1" noResize="1" noEditPoints="1" noAdjustHandles="1" noChangeArrowheads="1" noChangeShapeType="1"/>
          </p:cNvSpPr>
          <p:nvPr/>
        </p:nvSpPr>
        <p:spPr>
          <a:xfrm>
            <a:off x="-1" y="42214005"/>
            <a:ext cx="27431999" cy="1677195"/>
          </a:xfrm>
          <a:prstGeom prst="rect">
            <a:avLst/>
          </a:prstGeom>
          <a:solidFill>
            <a:schemeClr val="tx2">
              <a:lumMod val="75000"/>
              <a:lumOff val="2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dirty="0"/>
          </a:p>
        </p:txBody>
      </p:sp>
      <p:sp>
        <p:nvSpPr>
          <p:cNvPr id="18" name="Rectangle 17">
            <a:extLst>
              <a:ext uri="{FF2B5EF4-FFF2-40B4-BE49-F238E27FC236}">
                <a16:creationId xmlns:a16="http://schemas.microsoft.com/office/drawing/2014/main" id="{8169C2A6-9564-09BF-3989-9D297CD227B5}"/>
              </a:ext>
            </a:extLst>
          </p:cNvPr>
          <p:cNvSpPr>
            <a:spLocks noGrp="1" noRot="1" noMove="1" noResize="1" noEditPoints="1" noAdjustHandles="1" noChangeArrowheads="1" noChangeShapeType="1"/>
          </p:cNvSpPr>
          <p:nvPr/>
        </p:nvSpPr>
        <p:spPr>
          <a:xfrm>
            <a:off x="18040724" y="42544923"/>
            <a:ext cx="9272571" cy="1103498"/>
          </a:xfrm>
          <a:prstGeom prst="rect">
            <a:avLst/>
          </a:prstGeom>
        </p:spPr>
        <p:txBody>
          <a:bodyPr wrap="square">
            <a:noAutofit/>
          </a:bodyPr>
          <a:lstStyle/>
          <a:p>
            <a:pPr>
              <a:spcAft>
                <a:spcPts val="667"/>
              </a:spcAft>
              <a:defRPr/>
            </a:pPr>
            <a:r>
              <a:rPr lang="en-US" altLang="en-US" sz="2333" dirty="0">
                <a:solidFill>
                  <a:schemeClr val="bg1"/>
                </a:solidFill>
                <a:latin typeface="Cambria" panose="02040503050406030204" pitchFamily="18" charset="0"/>
                <a:ea typeface="Cambria" panose="02040503050406030204" pitchFamily="18" charset="0"/>
              </a:rPr>
              <a:t>Department of Computer Science, Faculty of Science and Technology.</a:t>
            </a:r>
          </a:p>
          <a:p>
            <a:pPr>
              <a:spcAft>
                <a:spcPts val="667"/>
              </a:spcAft>
              <a:defRPr/>
            </a:pPr>
            <a:r>
              <a:rPr lang="en-US" sz="2333" b="1" dirty="0">
                <a:solidFill>
                  <a:schemeClr val="bg1"/>
                </a:solidFill>
                <a:latin typeface="Cambria" panose="02040503050406030204" pitchFamily="18" charset="0"/>
                <a:ea typeface="Cambria" panose="02040503050406030204" pitchFamily="18" charset="0"/>
              </a:rPr>
              <a:t>American International University-Bangladesh (AIUB)</a:t>
            </a:r>
            <a:endParaRPr lang="en-US" sz="2833" b="1" dirty="0">
              <a:solidFill>
                <a:schemeClr val="bg1"/>
              </a:solidFill>
              <a:latin typeface="Cambria" panose="02040503050406030204" pitchFamily="18" charset="0"/>
              <a:ea typeface="Cambria" panose="02040503050406030204" pitchFamily="18" charset="0"/>
            </a:endParaRPr>
          </a:p>
          <a:p>
            <a:pPr>
              <a:spcAft>
                <a:spcPts val="67"/>
              </a:spcAft>
              <a:defRPr/>
            </a:pPr>
            <a:endParaRPr lang="en-US" altLang="en-US" sz="2333" dirty="0">
              <a:solidFill>
                <a:schemeClr val="bg1"/>
              </a:solidFill>
              <a:latin typeface="Cambria" panose="02040503050406030204" pitchFamily="18" charset="0"/>
              <a:ea typeface="Cambria" panose="02040503050406030204" pitchFamily="18" charset="0"/>
            </a:endParaRPr>
          </a:p>
        </p:txBody>
      </p:sp>
      <p:pic>
        <p:nvPicPr>
          <p:cNvPr id="1026" name="Picture 2">
            <a:extLst>
              <a:ext uri="{FF2B5EF4-FFF2-40B4-BE49-F238E27FC236}">
                <a16:creationId xmlns:a16="http://schemas.microsoft.com/office/drawing/2014/main" id="{483903A7-9AB1-3F93-9E69-2D1474DD5481}"/>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3678443" y="322262"/>
            <a:ext cx="2781300" cy="2781300"/>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3">
            <a:extLst>
              <a:ext uri="{FF2B5EF4-FFF2-40B4-BE49-F238E27FC236}">
                <a16:creationId xmlns:a16="http://schemas.microsoft.com/office/drawing/2014/main" id="{BF5512A1-67FF-5B6E-9559-157557AC0CCC}"/>
              </a:ext>
            </a:extLst>
          </p:cNvPr>
          <p:cNvSpPr txBox="1">
            <a:spLocks noGrp="1" noRot="1" noMove="1" noResize="1" noEditPoints="1" noAdjustHandles="1" noChangeArrowheads="1" noChangeShapeType="1"/>
          </p:cNvSpPr>
          <p:nvPr/>
        </p:nvSpPr>
        <p:spPr bwMode="auto">
          <a:xfrm>
            <a:off x="957742" y="4128502"/>
            <a:ext cx="8191500" cy="6204584"/>
          </a:xfrm>
          <a:prstGeom prst="rect">
            <a:avLst/>
          </a:prstGeom>
          <a:solidFill>
            <a:schemeClr val="bg1">
              <a:alpha val="63000"/>
            </a:schemeClr>
          </a:solidFill>
          <a:ln>
            <a:noFill/>
          </a:ln>
          <a:effectLst/>
        </p:spPr>
        <p:txBody>
          <a:bodyPr>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algn="just">
              <a:lnSpc>
                <a:spcPts val="3833"/>
              </a:lnSpc>
              <a:spcAft>
                <a:spcPts val="1000"/>
              </a:spcAft>
            </a:pPr>
            <a:r>
              <a:rPr lang="en-US" sz="4000" b="1" dirty="0">
                <a:solidFill>
                  <a:srgbClr val="005BBB"/>
                </a:solidFill>
                <a:latin typeface="Times New Roman" panose="02020603050405020304" pitchFamily="18" charset="0"/>
                <a:cs typeface="Times New Roman" panose="02020603050405020304" pitchFamily="18" charset="0"/>
              </a:rPr>
              <a:t>Introduction</a:t>
            </a:r>
          </a:p>
          <a:p>
            <a:pPr algn="just">
              <a:lnSpc>
                <a:spcPts val="3570"/>
              </a:lnSpc>
            </a:pPr>
            <a:r>
              <a:rPr lang="en-GB" altLang="en-US" sz="2400" dirty="0">
                <a:latin typeface="Times New Roman" panose="02020603050405020304" pitchFamily="18" charset="0"/>
                <a:ea typeface="Arial" charset="0"/>
                <a:cs typeface="Times New Roman" panose="02020603050405020304" pitchFamily="18" charset="0"/>
              </a:rPr>
              <a:t>The rise of virtual communication and remote interaction has led to a greater necessity for immediate confidence evaluation. Regular self-reports are not very useful because they are not immediate and not objective. This study combines the analysis of facial expressions, recognition of hand gestures, and vocal analysis to produce a dynamic confidence score. Real-time systems that utilize multiple cues are more accurate and provide better monitoring of engagement and adaptive support in digital environments. The system takes advantage of recent developments in machine learning, integrating different modes of communication, and real-time processing to provide uninterrupted and trustworthy feedback.</a:t>
            </a:r>
            <a:endParaRPr lang="en-US" altLang="en-US" sz="2400" dirty="0">
              <a:latin typeface="Times New Roman" panose="02020603050405020304" pitchFamily="18" charset="0"/>
              <a:ea typeface="Arial" charset="0"/>
              <a:cs typeface="Times New Roman" panose="02020603050405020304" pitchFamily="18" charset="0"/>
            </a:endParaRPr>
          </a:p>
        </p:txBody>
      </p:sp>
      <p:cxnSp>
        <p:nvCxnSpPr>
          <p:cNvPr id="46" name="Straight Connector 45">
            <a:extLst>
              <a:ext uri="{FF2B5EF4-FFF2-40B4-BE49-F238E27FC236}">
                <a16:creationId xmlns:a16="http://schemas.microsoft.com/office/drawing/2014/main" id="{169E7B9A-91F1-E077-42D9-51C400781E9D}"/>
              </a:ext>
            </a:extLst>
          </p:cNvPr>
          <p:cNvCxnSpPr/>
          <p:nvPr/>
        </p:nvCxnSpPr>
        <p:spPr bwMode="auto">
          <a:xfrm>
            <a:off x="1057938" y="10524278"/>
            <a:ext cx="7991107" cy="0"/>
          </a:xfrm>
          <a:prstGeom prst="line">
            <a:avLst/>
          </a:prstGeom>
          <a:noFill/>
          <a:ln w="25400" cap="flat" cmpd="sng" algn="ctr">
            <a:solidFill>
              <a:schemeClr val="tx1"/>
            </a:solidFill>
            <a:prstDash val="dash"/>
            <a:round/>
            <a:headEnd type="none" w="med" len="med"/>
            <a:tailEnd type="none" w="med" len="med"/>
          </a:ln>
          <a:effectLst/>
        </p:spPr>
      </p:cxnSp>
      <p:sp>
        <p:nvSpPr>
          <p:cNvPr id="54" name="TextBox 53">
            <a:extLst>
              <a:ext uri="{FF2B5EF4-FFF2-40B4-BE49-F238E27FC236}">
                <a16:creationId xmlns:a16="http://schemas.microsoft.com/office/drawing/2014/main" id="{EF1E5D44-E315-BF0C-B8C5-120A537EC21A}"/>
              </a:ext>
            </a:extLst>
          </p:cNvPr>
          <p:cNvSpPr txBox="1">
            <a:spLocks/>
          </p:cNvSpPr>
          <p:nvPr/>
        </p:nvSpPr>
        <p:spPr>
          <a:xfrm>
            <a:off x="969251" y="24806252"/>
            <a:ext cx="7991107" cy="646331"/>
          </a:xfrm>
          <a:prstGeom prst="rect">
            <a:avLst/>
          </a:prstGeom>
          <a:noFill/>
        </p:spPr>
        <p:txBody>
          <a:bodyPr wrap="square">
            <a:spAutoFit/>
          </a:bodyPr>
          <a:lstStyle/>
          <a:p>
            <a:pPr>
              <a:spcBef>
                <a:spcPts val="500"/>
              </a:spcBef>
              <a:buClr>
                <a:schemeClr val="tx2"/>
              </a:buClr>
              <a:defRPr/>
            </a:pPr>
            <a:r>
              <a:rPr lang="en-GB" dirty="0">
                <a:latin typeface="Times New Roman" panose="02020603050405020304" pitchFamily="18" charset="0"/>
                <a:ea typeface="Arial" charset="0"/>
                <a:cs typeface="Times New Roman" panose="02020603050405020304" pitchFamily="18" charset="0"/>
              </a:rPr>
              <a:t>Fig 1. A flowchart illustrating the proposed model for real-time image processing and confidence estimation.</a:t>
            </a:r>
            <a:endParaRPr lang="en-US" dirty="0">
              <a:latin typeface="Times New Roman" panose="02020603050405020304" pitchFamily="18" charset="0"/>
              <a:ea typeface="Arial" charset="0"/>
              <a:cs typeface="Times New Roman" panose="02020603050405020304" pitchFamily="18" charset="0"/>
            </a:endParaRPr>
          </a:p>
        </p:txBody>
      </p:sp>
      <p:sp>
        <p:nvSpPr>
          <p:cNvPr id="55" name="TextBox 54">
            <a:extLst>
              <a:ext uri="{FF2B5EF4-FFF2-40B4-BE49-F238E27FC236}">
                <a16:creationId xmlns:a16="http://schemas.microsoft.com/office/drawing/2014/main" id="{CE118C7B-FBB4-9799-28F2-195BF99F561A}"/>
              </a:ext>
            </a:extLst>
          </p:cNvPr>
          <p:cNvSpPr txBox="1">
            <a:spLocks/>
          </p:cNvSpPr>
          <p:nvPr/>
        </p:nvSpPr>
        <p:spPr>
          <a:xfrm>
            <a:off x="857545" y="26162501"/>
            <a:ext cx="8191500" cy="9692718"/>
          </a:xfrm>
          <a:prstGeom prst="rect">
            <a:avLst/>
          </a:prstGeom>
          <a:solidFill>
            <a:schemeClr val="bg1">
              <a:alpha val="63000"/>
            </a:schemeClr>
          </a:solidFill>
          <a:effectLst/>
        </p:spPr>
        <p:txBody>
          <a:bodyPr>
            <a:spAutoFit/>
          </a:bodyPr>
          <a:lstStyle/>
          <a:p>
            <a:pPr algn="just">
              <a:lnSpc>
                <a:spcPts val="3833"/>
              </a:lnSpc>
              <a:spcAft>
                <a:spcPts val="1000"/>
              </a:spcAft>
              <a:defRPr/>
            </a:pPr>
            <a:r>
              <a:rPr lang="en-US" sz="4000" b="1" dirty="0">
                <a:solidFill>
                  <a:srgbClr val="005BBB"/>
                </a:solidFill>
                <a:latin typeface="Times New Roman" panose="02020603050405020304" pitchFamily="18" charset="0"/>
                <a:cs typeface="Times New Roman" panose="02020603050405020304" pitchFamily="18" charset="0"/>
              </a:rPr>
              <a:t>Data Analysis </a:t>
            </a:r>
          </a:p>
          <a:p>
            <a:pPr marL="809573" lvl="1" indent="-428598" algn="just">
              <a:lnSpc>
                <a:spcPts val="3570"/>
              </a:lnSpc>
              <a:spcAft>
                <a:spcPts val="1000"/>
              </a:spcAft>
              <a:buClr>
                <a:schemeClr val="tx2"/>
              </a:buClr>
              <a:buSzPct val="100000"/>
              <a:buFont typeface="+mj-lt"/>
              <a:buAutoNum type="alphaUcPeriod"/>
              <a:defRPr/>
            </a:pPr>
            <a:r>
              <a:rPr lang="en-GB" sz="2400" b="1" dirty="0">
                <a:latin typeface="Times New Roman" panose="02020603050405020304" pitchFamily="18" charset="0"/>
                <a:ea typeface="Arial" charset="0"/>
                <a:cs typeface="Times New Roman" panose="02020603050405020304" pitchFamily="18" charset="0"/>
              </a:rPr>
              <a:t>Machine Data </a:t>
            </a:r>
            <a:r>
              <a:rPr lang="en-GB" sz="2400" b="1" dirty="0" err="1">
                <a:latin typeface="Times New Roman" panose="02020603050405020304" pitchFamily="18" charset="0"/>
                <a:ea typeface="Arial" charset="0"/>
                <a:cs typeface="Times New Roman" panose="02020603050405020304" pitchFamily="18" charset="0"/>
              </a:rPr>
              <a:t>Analysis:</a:t>
            </a:r>
            <a:r>
              <a:rPr lang="en-GB" sz="2400" dirty="0" err="1">
                <a:latin typeface="Times New Roman" panose="02020603050405020304" pitchFamily="18" charset="0"/>
                <a:ea typeface="Arial" charset="0"/>
                <a:cs typeface="Times New Roman" panose="02020603050405020304" pitchFamily="18" charset="0"/>
              </a:rPr>
              <a:t>The</a:t>
            </a:r>
            <a:r>
              <a:rPr lang="en-GB" sz="2400" dirty="0">
                <a:latin typeface="Times New Roman" panose="02020603050405020304" pitchFamily="18" charset="0"/>
                <a:ea typeface="Arial" charset="0"/>
                <a:cs typeface="Times New Roman" panose="02020603050405020304" pitchFamily="18" charset="0"/>
              </a:rPr>
              <a:t> researchers studied facial features along with hand, vocal characteristics, to find patterns which indicate confidence levels. The main indicators consisted of smile intensity together with blink rate, head movement, and gesture stability, and pitch consistency, and loudness balance. The evaluation process used these non-verbal indicators to assess participant focus and their instantaneous self-assurance levels.</a:t>
            </a:r>
            <a:endParaRPr lang="en-US" sz="2400" dirty="0">
              <a:latin typeface="Times New Roman" panose="02020603050405020304" pitchFamily="18" charset="0"/>
              <a:ea typeface="Arial" charset="0"/>
              <a:cs typeface="Times New Roman" panose="02020603050405020304" pitchFamily="18" charset="0"/>
            </a:endParaRPr>
          </a:p>
          <a:p>
            <a:pPr marL="809573" lvl="1" indent="-428598" algn="just">
              <a:lnSpc>
                <a:spcPts val="3570"/>
              </a:lnSpc>
              <a:spcAft>
                <a:spcPts val="1000"/>
              </a:spcAft>
              <a:buClr>
                <a:schemeClr val="tx2"/>
              </a:buClr>
              <a:buSzPct val="100000"/>
              <a:buFont typeface="+mj-lt"/>
              <a:buAutoNum type="alphaUcPeriod"/>
              <a:defRPr/>
            </a:pPr>
            <a:r>
              <a:rPr lang="en-GB" sz="2400" b="1" dirty="0">
                <a:latin typeface="Times New Roman" panose="02020603050405020304" pitchFamily="18" charset="0"/>
                <a:ea typeface="Arial" charset="0"/>
                <a:cs typeface="Times New Roman" panose="02020603050405020304" pitchFamily="18" charset="0"/>
              </a:rPr>
              <a:t>Questionnaire Data Analysis</a:t>
            </a:r>
            <a:r>
              <a:rPr lang="en-GB" sz="2400" dirty="0">
                <a:latin typeface="Times New Roman" panose="02020603050405020304" pitchFamily="18" charset="0"/>
                <a:ea typeface="Arial" charset="0"/>
                <a:cs typeface="Times New Roman" panose="02020603050405020304" pitchFamily="18" charset="0"/>
              </a:rPr>
              <a:t>: The participants finished a pre-designed confidence questionnaire which asked them to rate their own feelings through self-assessment. The collected answers served as a benchmark to evaluate the accuracy of machine-generated confidence scores by verifying their consistency.</a:t>
            </a:r>
            <a:endParaRPr lang="en-US" sz="2400" dirty="0">
              <a:latin typeface="Times New Roman" panose="02020603050405020304" pitchFamily="18" charset="0"/>
              <a:ea typeface="Arial" charset="0"/>
              <a:cs typeface="Times New Roman" panose="02020603050405020304" pitchFamily="18" charset="0"/>
            </a:endParaRPr>
          </a:p>
          <a:p>
            <a:pPr marL="809573" lvl="1" indent="-428598" algn="just">
              <a:lnSpc>
                <a:spcPts val="3570"/>
              </a:lnSpc>
              <a:buClr>
                <a:schemeClr val="tx2"/>
              </a:buClr>
              <a:buSzPct val="100000"/>
              <a:buFont typeface="+mj-lt"/>
              <a:buAutoNum type="alphaUcPeriod"/>
              <a:defRPr/>
            </a:pPr>
            <a:r>
              <a:rPr lang="en-GB" sz="2400" b="1" dirty="0">
                <a:latin typeface="Times New Roman" panose="02020603050405020304" pitchFamily="18" charset="0"/>
                <a:ea typeface="Arial" charset="0"/>
                <a:cs typeface="Times New Roman" panose="02020603050405020304" pitchFamily="18" charset="0"/>
              </a:rPr>
              <a:t>Combined Confidence Evaluation</a:t>
            </a:r>
            <a:r>
              <a:rPr lang="en-GB" sz="2400" dirty="0">
                <a:latin typeface="Times New Roman" panose="02020603050405020304" pitchFamily="18" charset="0"/>
                <a:ea typeface="Arial" charset="0"/>
                <a:cs typeface="Times New Roman" panose="02020603050405020304" pitchFamily="18" charset="0"/>
              </a:rPr>
              <a:t>: The final confidence graph and score emerged from the combination of machine data with questionnaire results. The integrated method improved accuracy through its ability to verify human observation results against system prediction outcomes.</a:t>
            </a:r>
            <a:endParaRPr lang="en-US" sz="2400" dirty="0">
              <a:latin typeface="Times New Roman" panose="02020603050405020304" pitchFamily="18" charset="0"/>
              <a:ea typeface="Arial" charset="0"/>
              <a:cs typeface="Times New Roman" panose="02020603050405020304" pitchFamily="18" charset="0"/>
            </a:endParaRPr>
          </a:p>
        </p:txBody>
      </p:sp>
      <p:cxnSp>
        <p:nvCxnSpPr>
          <p:cNvPr id="1024" name="Straight Connector 1023">
            <a:extLst>
              <a:ext uri="{FF2B5EF4-FFF2-40B4-BE49-F238E27FC236}">
                <a16:creationId xmlns:a16="http://schemas.microsoft.com/office/drawing/2014/main" id="{90329AB1-26B5-DD95-62D2-EA0F04DB75D9}"/>
              </a:ext>
            </a:extLst>
          </p:cNvPr>
          <p:cNvCxnSpPr/>
          <p:nvPr/>
        </p:nvCxnSpPr>
        <p:spPr bwMode="auto">
          <a:xfrm>
            <a:off x="1069448" y="42033309"/>
            <a:ext cx="8153400" cy="0"/>
          </a:xfrm>
          <a:prstGeom prst="line">
            <a:avLst/>
          </a:prstGeom>
          <a:noFill/>
          <a:ln w="25400" cap="flat" cmpd="sng" algn="ctr">
            <a:solidFill>
              <a:schemeClr val="tx1"/>
            </a:solidFill>
            <a:prstDash val="dash"/>
            <a:round/>
            <a:headEnd type="none" w="med" len="med"/>
            <a:tailEnd type="none" w="med" len="med"/>
          </a:ln>
          <a:effectLst/>
        </p:spPr>
      </p:cxnSp>
      <p:sp>
        <p:nvSpPr>
          <p:cNvPr id="1028" name="TextBox 1027">
            <a:extLst>
              <a:ext uri="{FF2B5EF4-FFF2-40B4-BE49-F238E27FC236}">
                <a16:creationId xmlns:a16="http://schemas.microsoft.com/office/drawing/2014/main" id="{12D33B78-A952-72F2-64D2-8BD487B622FC}"/>
              </a:ext>
            </a:extLst>
          </p:cNvPr>
          <p:cNvSpPr txBox="1">
            <a:spLocks/>
          </p:cNvSpPr>
          <p:nvPr/>
        </p:nvSpPr>
        <p:spPr>
          <a:xfrm>
            <a:off x="10023722" y="15894929"/>
            <a:ext cx="8191500" cy="707886"/>
          </a:xfrm>
          <a:prstGeom prst="rect">
            <a:avLst/>
          </a:prstGeom>
          <a:solidFill>
            <a:schemeClr val="bg1">
              <a:alpha val="42000"/>
            </a:schemeClr>
          </a:solidFill>
        </p:spPr>
        <p:txBody>
          <a:bodyPr>
            <a:spAutoFit/>
          </a:bodyPr>
          <a:lstStyle/>
          <a:p>
            <a:pPr>
              <a:spcBef>
                <a:spcPts val="500"/>
              </a:spcBef>
              <a:buClr>
                <a:schemeClr val="tx2"/>
              </a:buClr>
              <a:defRPr/>
            </a:pPr>
            <a:r>
              <a:rPr lang="en-GB" sz="2000" dirty="0">
                <a:latin typeface="Times New Roman" panose="02020603050405020304" pitchFamily="18" charset="0"/>
                <a:ea typeface="Arial" charset="0"/>
                <a:cs typeface="Times New Roman" panose="02020603050405020304" pitchFamily="18" charset="0"/>
              </a:rPr>
              <a:t>Fig 2. Confidence detection interface showing live analysis, questionnaire results, and confidence trend over time.</a:t>
            </a:r>
            <a:endParaRPr lang="en-US" sz="2000" dirty="0">
              <a:latin typeface="Times New Roman" panose="02020603050405020304" pitchFamily="18" charset="0"/>
              <a:ea typeface="Arial" charset="0"/>
              <a:cs typeface="Times New Roman" panose="02020603050405020304" pitchFamily="18" charset="0"/>
            </a:endParaRPr>
          </a:p>
        </p:txBody>
      </p:sp>
      <p:cxnSp>
        <p:nvCxnSpPr>
          <p:cNvPr id="1030" name="Straight Connector 1029">
            <a:extLst>
              <a:ext uri="{FF2B5EF4-FFF2-40B4-BE49-F238E27FC236}">
                <a16:creationId xmlns:a16="http://schemas.microsoft.com/office/drawing/2014/main" id="{D564BAF5-36D3-3279-E82E-A8D09F842047}"/>
              </a:ext>
            </a:extLst>
          </p:cNvPr>
          <p:cNvCxnSpPr/>
          <p:nvPr/>
        </p:nvCxnSpPr>
        <p:spPr bwMode="auto">
          <a:xfrm>
            <a:off x="10108389" y="16832865"/>
            <a:ext cx="8153400" cy="0"/>
          </a:xfrm>
          <a:prstGeom prst="line">
            <a:avLst/>
          </a:prstGeom>
          <a:noFill/>
          <a:ln w="25400" cap="flat" cmpd="sng" algn="ctr">
            <a:solidFill>
              <a:schemeClr val="tx1"/>
            </a:solidFill>
            <a:prstDash val="dash"/>
            <a:round/>
            <a:headEnd type="none" w="med" len="med"/>
            <a:tailEnd type="none" w="med" len="med"/>
          </a:ln>
          <a:effectLst/>
        </p:spPr>
      </p:cxnSp>
      <p:sp>
        <p:nvSpPr>
          <p:cNvPr id="1031" name="TextBox 1030">
            <a:extLst>
              <a:ext uri="{FF2B5EF4-FFF2-40B4-BE49-F238E27FC236}">
                <a16:creationId xmlns:a16="http://schemas.microsoft.com/office/drawing/2014/main" id="{FE639642-0756-CFE0-BE9E-484465460BAC}"/>
              </a:ext>
            </a:extLst>
          </p:cNvPr>
          <p:cNvSpPr txBox="1">
            <a:spLocks/>
          </p:cNvSpPr>
          <p:nvPr/>
        </p:nvSpPr>
        <p:spPr>
          <a:xfrm>
            <a:off x="10108389" y="17059264"/>
            <a:ext cx="8153400" cy="10821232"/>
          </a:xfrm>
          <a:prstGeom prst="rect">
            <a:avLst/>
          </a:prstGeom>
          <a:solidFill>
            <a:schemeClr val="bg1">
              <a:alpha val="63000"/>
            </a:schemeClr>
          </a:solidFill>
          <a:effectLst/>
        </p:spPr>
        <p:txBody>
          <a:bodyPr wrap="square">
            <a:spAutoFit/>
          </a:bodyPr>
          <a:lstStyle/>
          <a:p>
            <a:pPr algn="just">
              <a:lnSpc>
                <a:spcPts val="3833"/>
              </a:lnSpc>
              <a:spcAft>
                <a:spcPts val="1000"/>
              </a:spcAft>
              <a:defRPr/>
            </a:pPr>
            <a:r>
              <a:rPr lang="en-US" sz="4000" b="1" dirty="0">
                <a:solidFill>
                  <a:srgbClr val="005BBB"/>
                </a:solidFill>
                <a:latin typeface="Times New Roman" panose="02020603050405020304" pitchFamily="18" charset="0"/>
                <a:cs typeface="Times New Roman" panose="02020603050405020304" pitchFamily="18" charset="0"/>
              </a:rPr>
              <a:t>Results</a:t>
            </a:r>
          </a:p>
          <a:p>
            <a:pPr algn="just">
              <a:lnSpc>
                <a:spcPts val="3570"/>
              </a:lnSpc>
              <a:spcAft>
                <a:spcPts val="1500"/>
              </a:spcAft>
              <a:defRPr/>
            </a:pPr>
            <a:r>
              <a:rPr lang="en-GB" sz="2400" dirty="0">
                <a:latin typeface="Times New Roman" panose="02020603050405020304" pitchFamily="18" charset="0"/>
                <a:ea typeface="Arial" charset="0"/>
                <a:cs typeface="Times New Roman" panose="02020603050405020304" pitchFamily="18" charset="0"/>
              </a:rPr>
              <a:t>The results of the system demonstrate that facial expressions, hand gestures, and vocal characteristics all play significant roles in determining real-time confidence levels. Facial expression analysis showed that a smile with a lip aspect ratio greater than 1.5 increased confidence, while excessive blinking above 15 blinks per minute and head movement beyond ±10° noticeably reduced it. Consistent lip movement was associated with higher engagement, and a steady gaze strongly correlated with high confidence. Hand gesture analysis revealed that moderate gesture speeds between 0.2 and 0.5 m/s reflected calm and confident </a:t>
            </a:r>
            <a:r>
              <a:rPr lang="en-GB" sz="2400" dirty="0" err="1">
                <a:latin typeface="Times New Roman" panose="02020603050405020304" pitchFamily="18" charset="0"/>
                <a:ea typeface="Arial" charset="0"/>
                <a:cs typeface="Times New Roman" panose="02020603050405020304" pitchFamily="18" charset="0"/>
              </a:rPr>
              <a:t>behavior</a:t>
            </a:r>
            <a:r>
              <a:rPr lang="en-GB" sz="2400" dirty="0">
                <a:latin typeface="Times New Roman" panose="02020603050405020304" pitchFamily="18" charset="0"/>
                <a:ea typeface="Arial" charset="0"/>
                <a:cs typeface="Times New Roman" panose="02020603050405020304" pitchFamily="18" charset="0"/>
              </a:rPr>
              <a:t>, whereas rapid or erratic movements indicated low confidence. Vocal analysis further supported these findings, as stable pitch and balanced loudness were linked to high confidence, while high jitter, pitch fluctuation, and reduced vocal intensity suggested nervousness or uncertainty. When categorized using the overall scoring system, participants were grouped into high (0.9–1.2), medium (0.6–0.8), and low confidence levels (0.4–0.5). In terms of modality-based averages, facial cues showed the highest stability at 80.13%, followed by hand gestures at 68.81% and vocal features at 64.87%, reflecting the varying strengths of each modality in confidence detection.</a:t>
            </a:r>
            <a:endParaRPr lang="en-US" sz="2400" dirty="0">
              <a:latin typeface="Times New Roman" panose="02020603050405020304" pitchFamily="18" charset="0"/>
              <a:ea typeface="Arial" charset="0"/>
              <a:cs typeface="Times New Roman" panose="02020603050405020304" pitchFamily="18" charset="0"/>
            </a:endParaRPr>
          </a:p>
        </p:txBody>
      </p:sp>
      <p:sp>
        <p:nvSpPr>
          <p:cNvPr id="1036" name="TextBox 1035">
            <a:extLst>
              <a:ext uri="{FF2B5EF4-FFF2-40B4-BE49-F238E27FC236}">
                <a16:creationId xmlns:a16="http://schemas.microsoft.com/office/drawing/2014/main" id="{01AFBA88-4F44-87CA-6513-11AC6BC5B057}"/>
              </a:ext>
            </a:extLst>
          </p:cNvPr>
          <p:cNvSpPr txBox="1">
            <a:spLocks/>
          </p:cNvSpPr>
          <p:nvPr/>
        </p:nvSpPr>
        <p:spPr>
          <a:xfrm>
            <a:off x="19171319" y="7592161"/>
            <a:ext cx="7932334" cy="8512908"/>
          </a:xfrm>
          <a:prstGeom prst="rect">
            <a:avLst/>
          </a:prstGeom>
          <a:solidFill>
            <a:schemeClr val="bg1">
              <a:alpha val="63000"/>
            </a:schemeClr>
          </a:solidFill>
          <a:effectLst/>
        </p:spPr>
        <p:txBody>
          <a:bodyPr wrap="square">
            <a:spAutoFit/>
          </a:bodyPr>
          <a:lstStyle/>
          <a:p>
            <a:pPr algn="just">
              <a:lnSpc>
                <a:spcPts val="3833"/>
              </a:lnSpc>
              <a:spcAft>
                <a:spcPts val="1000"/>
              </a:spcAft>
              <a:defRPr/>
            </a:pPr>
            <a:r>
              <a:rPr lang="en-US" sz="4000" b="1" dirty="0">
                <a:solidFill>
                  <a:srgbClr val="005BBB"/>
                </a:solidFill>
                <a:latin typeface="Times New Roman" panose="02020603050405020304" pitchFamily="18" charset="0"/>
                <a:cs typeface="Times New Roman" panose="02020603050405020304" pitchFamily="18" charset="0"/>
              </a:rPr>
              <a:t>Conclusion</a:t>
            </a:r>
          </a:p>
          <a:p>
            <a:pPr algn="just">
              <a:lnSpc>
                <a:spcPts val="3570"/>
              </a:lnSpc>
              <a:spcAft>
                <a:spcPts val="1000"/>
              </a:spcAft>
              <a:defRPr/>
            </a:pPr>
            <a:r>
              <a:rPr lang="en-GB" sz="2400" dirty="0">
                <a:latin typeface="Times New Roman" panose="02020603050405020304" pitchFamily="18" charset="0"/>
                <a:ea typeface="Arial" charset="0"/>
                <a:cs typeface="Times New Roman" panose="02020603050405020304" pitchFamily="18" charset="0"/>
              </a:rPr>
              <a:t>The model that has been proposed is a very accurate way of detecting human confidence in real-time; it incorporates facial expressions, hand gestures, and vocal characteristics into one scoring system. The detection of </a:t>
            </a:r>
            <a:r>
              <a:rPr lang="en-GB" sz="2400" dirty="0" err="1">
                <a:latin typeface="Times New Roman" panose="02020603050405020304" pitchFamily="18" charset="0"/>
                <a:ea typeface="Arial" charset="0"/>
                <a:cs typeface="Times New Roman" panose="02020603050405020304" pitchFamily="18" charset="0"/>
              </a:rPr>
              <a:t>behavioral</a:t>
            </a:r>
            <a:r>
              <a:rPr lang="en-GB" sz="2400" dirty="0">
                <a:latin typeface="Times New Roman" panose="02020603050405020304" pitchFamily="18" charset="0"/>
                <a:ea typeface="Arial" charset="0"/>
                <a:cs typeface="Times New Roman" panose="02020603050405020304" pitchFamily="18" charset="0"/>
              </a:rPr>
              <a:t> cues like gaze stability, blink rate, gesture smoothness, and vocal clarity brings out the model's ability to give immediate feedback that is meaningful and can improve the quality of communication in virtual settings. It already has a strong impact on online interviews, public speaking practice and remote learning where sometimes user confidence is the main concern. The model is already quite accurate in the controlled settings but it can be improved further by using larger and more diverse datasets that would take into consideration the different types of user </a:t>
            </a:r>
            <a:r>
              <a:rPr lang="en-GB" sz="2400" dirty="0" err="1">
                <a:latin typeface="Times New Roman" panose="02020603050405020304" pitchFamily="18" charset="0"/>
                <a:ea typeface="Arial" charset="0"/>
                <a:cs typeface="Times New Roman" panose="02020603050405020304" pitchFamily="18" charset="0"/>
              </a:rPr>
              <a:t>behaviors</a:t>
            </a:r>
            <a:r>
              <a:rPr lang="en-GB" sz="2400" dirty="0">
                <a:latin typeface="Times New Roman" panose="02020603050405020304" pitchFamily="18" charset="0"/>
                <a:ea typeface="Arial" charset="0"/>
                <a:cs typeface="Times New Roman" panose="02020603050405020304" pitchFamily="18" charset="0"/>
              </a:rPr>
              <a:t> and cultural differences. In the end, the system sets up a good way for multimodal confidence assessment and also paves the way for future innovations in real-time human-computer interaction.</a:t>
            </a:r>
            <a:endParaRPr lang="en-US" sz="2400" dirty="0">
              <a:latin typeface="Times New Roman" panose="02020603050405020304" pitchFamily="18" charset="0"/>
              <a:ea typeface="Arial" charset="0"/>
              <a:cs typeface="Times New Roman" panose="02020603050405020304" pitchFamily="18" charset="0"/>
            </a:endParaRPr>
          </a:p>
        </p:txBody>
      </p:sp>
      <p:cxnSp>
        <p:nvCxnSpPr>
          <p:cNvPr id="1037" name="Straight Connector 1036">
            <a:extLst>
              <a:ext uri="{FF2B5EF4-FFF2-40B4-BE49-F238E27FC236}">
                <a16:creationId xmlns:a16="http://schemas.microsoft.com/office/drawing/2014/main" id="{F831B0C1-6CC7-02D5-929B-BBDBF5209391}"/>
              </a:ext>
            </a:extLst>
          </p:cNvPr>
          <p:cNvCxnSpPr/>
          <p:nvPr/>
        </p:nvCxnSpPr>
        <p:spPr bwMode="auto">
          <a:xfrm>
            <a:off x="10399402" y="42062514"/>
            <a:ext cx="8153400" cy="0"/>
          </a:xfrm>
          <a:prstGeom prst="line">
            <a:avLst/>
          </a:prstGeom>
          <a:noFill/>
          <a:ln w="25400" cap="flat" cmpd="sng" algn="ctr">
            <a:solidFill>
              <a:schemeClr val="tx1"/>
            </a:solidFill>
            <a:prstDash val="dash"/>
            <a:round/>
            <a:headEnd type="none" w="med" len="med"/>
            <a:tailEnd type="none" w="med" len="med"/>
          </a:ln>
          <a:effectLst/>
        </p:spPr>
      </p:cxnSp>
      <p:sp>
        <p:nvSpPr>
          <p:cNvPr id="1038" name="TextBox 1037">
            <a:extLst>
              <a:ext uri="{FF2B5EF4-FFF2-40B4-BE49-F238E27FC236}">
                <a16:creationId xmlns:a16="http://schemas.microsoft.com/office/drawing/2014/main" id="{A247AC93-F3A5-CFD1-FE45-732FCFDA5933}"/>
              </a:ext>
            </a:extLst>
          </p:cNvPr>
          <p:cNvSpPr txBox="1">
            <a:spLocks/>
          </p:cNvSpPr>
          <p:nvPr/>
        </p:nvSpPr>
        <p:spPr>
          <a:xfrm>
            <a:off x="19237963" y="24923105"/>
            <a:ext cx="7948657" cy="10547567"/>
          </a:xfrm>
          <a:prstGeom prst="rect">
            <a:avLst/>
          </a:prstGeom>
          <a:solidFill>
            <a:schemeClr val="bg1">
              <a:alpha val="63000"/>
            </a:schemeClr>
          </a:solidFill>
          <a:effectLst/>
        </p:spPr>
        <p:txBody>
          <a:bodyPr wrap="square">
            <a:spAutoFit/>
          </a:bodyPr>
          <a:lstStyle/>
          <a:p>
            <a:pPr algn="just">
              <a:lnSpc>
                <a:spcPts val="3167"/>
              </a:lnSpc>
              <a:spcAft>
                <a:spcPts val="1000"/>
              </a:spcAft>
              <a:buClr>
                <a:schemeClr val="tx2"/>
              </a:buClr>
              <a:defRPr/>
            </a:pPr>
            <a:r>
              <a:rPr lang="en-US" sz="4000" b="1" dirty="0">
                <a:solidFill>
                  <a:srgbClr val="005BBB"/>
                </a:solidFill>
                <a:latin typeface="Times New Roman" panose="02020603050405020304" pitchFamily="18" charset="0"/>
                <a:cs typeface="Times New Roman" panose="02020603050405020304" pitchFamily="18" charset="0"/>
              </a:rPr>
              <a:t>References</a:t>
            </a:r>
            <a:endParaRPr lang="en-US" sz="2000" dirty="0">
              <a:latin typeface="Times New Roman" panose="02020603050405020304" pitchFamily="18" charset="0"/>
              <a:ea typeface="Arial" charset="0"/>
              <a:cs typeface="Times New Roman" panose="02020603050405020304" pitchFamily="18" charset="0"/>
            </a:endParaRPr>
          </a:p>
          <a:p>
            <a:pPr algn="just">
              <a:lnSpc>
                <a:spcPct val="150000"/>
              </a:lnSpc>
              <a:buClr>
                <a:schemeClr val="tx2"/>
              </a:buClr>
              <a:buFont typeface="+mj-lt"/>
              <a:buAutoNum type="arabicPeriod"/>
              <a:defRPr/>
            </a:pPr>
            <a:r>
              <a:rPr lang="en-US" sz="2000" dirty="0">
                <a:latin typeface="Times New Roman" panose="02020603050405020304" pitchFamily="18" charset="0"/>
                <a:ea typeface="Arial" charset="0"/>
                <a:cs typeface="Times New Roman" panose="02020603050405020304" pitchFamily="18" charset="0"/>
              </a:rPr>
              <a:t>  </a:t>
            </a:r>
            <a:r>
              <a:rPr lang="en-GB" sz="2400" dirty="0">
                <a:latin typeface="Times New Roman" panose="02020603050405020304" pitchFamily="18" charset="0"/>
                <a:ea typeface="Arial" charset="0"/>
                <a:cs typeface="Times New Roman" panose="02020603050405020304" pitchFamily="18" charset="0"/>
              </a:rPr>
              <a:t> </a:t>
            </a:r>
            <a:r>
              <a:rPr lang="en-GB" sz="2000" dirty="0">
                <a:latin typeface="Times New Roman" panose="02020603050405020304" pitchFamily="18" charset="0"/>
                <a:ea typeface="Arial" charset="0"/>
                <a:cs typeface="Times New Roman" panose="02020603050405020304" pitchFamily="18" charset="0"/>
              </a:rPr>
              <a:t>M. Archana, C. Nitish, S. Harikumar, Real time face detection and optimal face mapping for online classes, in: Journal of Physics: Conference Series, Vol. 2161, IOP Publishing, 2022, p.012063.</a:t>
            </a:r>
            <a:endParaRPr lang="en-US" sz="2000" dirty="0">
              <a:latin typeface="Times New Roman" panose="02020603050405020304" pitchFamily="18" charset="0"/>
              <a:ea typeface="Arial" charset="0"/>
              <a:cs typeface="Times New Roman" panose="02020603050405020304" pitchFamily="18" charset="0"/>
            </a:endParaRPr>
          </a:p>
          <a:p>
            <a:pPr algn="just">
              <a:lnSpc>
                <a:spcPct val="150000"/>
              </a:lnSpc>
              <a:buClr>
                <a:schemeClr val="tx2"/>
              </a:buClr>
              <a:buFont typeface="+mj-lt"/>
              <a:buAutoNum type="arabicPeriod"/>
              <a:defRPr/>
            </a:pPr>
            <a:r>
              <a:rPr lang="en-US" sz="2400" dirty="0">
                <a:latin typeface="Times New Roman" panose="02020603050405020304" pitchFamily="18" charset="0"/>
                <a:ea typeface="Arial" charset="0"/>
                <a:cs typeface="Times New Roman" panose="02020603050405020304" pitchFamily="18" charset="0"/>
              </a:rPr>
              <a:t>  </a:t>
            </a:r>
            <a:r>
              <a:rPr lang="en-US" sz="2000" dirty="0">
                <a:latin typeface="Times New Roman" panose="02020603050405020304" pitchFamily="18" charset="0"/>
                <a:ea typeface="Arial" charset="0"/>
                <a:cs typeface="Times New Roman" panose="02020603050405020304" pitchFamily="18" charset="0"/>
              </a:rPr>
              <a:t>C. Zheng, W. Wu, C. Chen, T. Yang, S. Zhu, J. Shen, N. </a:t>
            </a:r>
            <a:r>
              <a:rPr lang="en-US" sz="2000" dirty="0" err="1">
                <a:latin typeface="Times New Roman" panose="02020603050405020304" pitchFamily="18" charset="0"/>
                <a:ea typeface="Arial" charset="0"/>
                <a:cs typeface="Times New Roman" panose="02020603050405020304" pitchFamily="18" charset="0"/>
              </a:rPr>
              <a:t>Kehtarnavaz</a:t>
            </a:r>
            <a:r>
              <a:rPr lang="en-US" sz="2000" dirty="0">
                <a:latin typeface="Times New Roman" panose="02020603050405020304" pitchFamily="18" charset="0"/>
                <a:ea typeface="Arial" charset="0"/>
                <a:cs typeface="Times New Roman" panose="02020603050405020304" pitchFamily="18" charset="0"/>
              </a:rPr>
              <a:t>, M. Shah, Deep </a:t>
            </a:r>
            <a:r>
              <a:rPr lang="en-US" sz="2000" dirty="0" err="1">
                <a:latin typeface="Times New Roman" panose="02020603050405020304" pitchFamily="18" charset="0"/>
                <a:ea typeface="Arial" charset="0"/>
                <a:cs typeface="Times New Roman" panose="02020603050405020304" pitchFamily="18" charset="0"/>
              </a:rPr>
              <a:t>learningbased</a:t>
            </a:r>
            <a:r>
              <a:rPr lang="en-US" sz="2000" dirty="0">
                <a:latin typeface="Times New Roman" panose="02020603050405020304" pitchFamily="18" charset="0"/>
                <a:ea typeface="Arial" charset="0"/>
                <a:cs typeface="Times New Roman" panose="02020603050405020304" pitchFamily="18" charset="0"/>
              </a:rPr>
              <a:t> human pose estimation: A survey, ACM Computing Surveys 56 (1) (2023) 1–37.</a:t>
            </a:r>
            <a:endParaRPr lang="en-US" sz="2400" dirty="0">
              <a:latin typeface="Times New Roman" panose="02020603050405020304" pitchFamily="18" charset="0"/>
              <a:ea typeface="Arial" charset="0"/>
              <a:cs typeface="Times New Roman" panose="02020603050405020304" pitchFamily="18" charset="0"/>
            </a:endParaRPr>
          </a:p>
          <a:p>
            <a:pPr algn="just">
              <a:lnSpc>
                <a:spcPct val="150000"/>
              </a:lnSpc>
              <a:buClr>
                <a:schemeClr val="tx2"/>
              </a:buClr>
              <a:buFont typeface="+mj-lt"/>
              <a:buAutoNum type="arabicPeriod"/>
              <a:defRPr/>
            </a:pPr>
            <a:r>
              <a:rPr lang="en-US" sz="2400" dirty="0">
                <a:latin typeface="Times New Roman" panose="02020603050405020304" pitchFamily="18" charset="0"/>
                <a:ea typeface="Arial" charset="0"/>
                <a:cs typeface="Times New Roman" panose="02020603050405020304" pitchFamily="18" charset="0"/>
              </a:rPr>
              <a:t>  </a:t>
            </a:r>
            <a:r>
              <a:rPr lang="en-GB" sz="2000" dirty="0">
                <a:latin typeface="Times New Roman" panose="02020603050405020304" pitchFamily="18" charset="0"/>
                <a:ea typeface="Arial" charset="0"/>
                <a:cs typeface="Times New Roman" panose="02020603050405020304" pitchFamily="18" charset="0"/>
              </a:rPr>
              <a:t>H.-J. Wang, T. Jin, Y.-T. Zhang, Application of </a:t>
            </a:r>
            <a:r>
              <a:rPr lang="en-GB" sz="2000" dirty="0" err="1">
                <a:latin typeface="Times New Roman" panose="02020603050405020304" pitchFamily="18" charset="0"/>
                <a:ea typeface="Arial" charset="0"/>
                <a:cs typeface="Times New Roman" panose="02020603050405020304" pitchFamily="18" charset="0"/>
              </a:rPr>
              <a:t>iafsa</a:t>
            </a:r>
            <a:r>
              <a:rPr lang="en-GB" sz="2000" dirty="0">
                <a:latin typeface="Times New Roman" panose="02020603050405020304" pitchFamily="18" charset="0"/>
                <a:ea typeface="Arial" charset="0"/>
                <a:cs typeface="Times New Roman" panose="02020603050405020304" pitchFamily="18" charset="0"/>
              </a:rPr>
              <a:t>-bp neural network in face orientation recognition, in: Journal of Physics: Conference Series, Vol. 1651, IOP Publishing, 2020, p. 012137.</a:t>
            </a:r>
          </a:p>
          <a:p>
            <a:pPr algn="just">
              <a:lnSpc>
                <a:spcPct val="150000"/>
              </a:lnSpc>
              <a:buClr>
                <a:schemeClr val="tx2"/>
              </a:buClr>
              <a:buFont typeface="+mj-lt"/>
              <a:buAutoNum type="arabicPeriod"/>
              <a:defRPr/>
            </a:pPr>
            <a:r>
              <a:rPr lang="en-US" sz="2000" dirty="0">
                <a:latin typeface="Times New Roman" panose="02020603050405020304" pitchFamily="18" charset="0"/>
                <a:ea typeface="Arial" charset="0"/>
                <a:cs typeface="Times New Roman" panose="02020603050405020304" pitchFamily="18" charset="0"/>
              </a:rPr>
              <a:t>    L. Gao, Y. Xu, Face orientation recognition based on multiple facial feature triangles, in: 2012 International Conference on Control Engineering and Communication Technology, 2012, p. 175.</a:t>
            </a:r>
          </a:p>
          <a:p>
            <a:pPr algn="just">
              <a:lnSpc>
                <a:spcPct val="150000"/>
              </a:lnSpc>
              <a:buClr>
                <a:schemeClr val="tx2"/>
              </a:buClr>
              <a:buFont typeface="+mj-lt"/>
              <a:buAutoNum type="arabicPeriod"/>
              <a:defRPr/>
            </a:pPr>
            <a:r>
              <a:rPr lang="en-US" sz="2000" dirty="0">
                <a:latin typeface="Times New Roman" panose="02020603050405020304" pitchFamily="18" charset="0"/>
                <a:ea typeface="Arial" charset="0"/>
                <a:cs typeface="Times New Roman" panose="02020603050405020304" pitchFamily="18" charset="0"/>
              </a:rPr>
              <a:t>    W. L. Passos, I. M. Quintanilha, G. M. Araujo, Real-time deep-learning-based system for facial recognition, Simp´ </a:t>
            </a:r>
            <a:r>
              <a:rPr lang="en-US" sz="2000" dirty="0" err="1">
                <a:latin typeface="Times New Roman" panose="02020603050405020304" pitchFamily="18" charset="0"/>
                <a:ea typeface="Arial" charset="0"/>
                <a:cs typeface="Times New Roman" panose="02020603050405020304" pitchFamily="18" charset="0"/>
              </a:rPr>
              <a:t>osio</a:t>
            </a:r>
            <a:r>
              <a:rPr lang="en-US" sz="2000" dirty="0">
                <a:latin typeface="Times New Roman" panose="02020603050405020304" pitchFamily="18" charset="0"/>
                <a:ea typeface="Arial" charset="0"/>
                <a:cs typeface="Times New Roman" panose="02020603050405020304" pitchFamily="18" charset="0"/>
              </a:rPr>
              <a:t> Brasileiro de </a:t>
            </a:r>
            <a:r>
              <a:rPr lang="en-US" sz="2000" dirty="0" err="1">
                <a:latin typeface="Times New Roman" panose="02020603050405020304" pitchFamily="18" charset="0"/>
                <a:ea typeface="Arial" charset="0"/>
                <a:cs typeface="Times New Roman" panose="02020603050405020304" pitchFamily="18" charset="0"/>
              </a:rPr>
              <a:t>Telecomunicac</a:t>
            </a:r>
            <a:r>
              <a:rPr lang="en-US" sz="2000" dirty="0">
                <a:latin typeface="Times New Roman" panose="02020603050405020304" pitchFamily="18" charset="0"/>
                <a:ea typeface="Arial" charset="0"/>
                <a:cs typeface="Times New Roman" panose="02020603050405020304" pitchFamily="18" charset="0"/>
              </a:rPr>
              <a:t>¸˜ </a:t>
            </a:r>
            <a:r>
              <a:rPr lang="en-US" sz="2000" dirty="0" err="1">
                <a:latin typeface="Times New Roman" panose="02020603050405020304" pitchFamily="18" charset="0"/>
                <a:ea typeface="Arial" charset="0"/>
                <a:cs typeface="Times New Roman" panose="02020603050405020304" pitchFamily="18" charset="0"/>
              </a:rPr>
              <a:t>oes</a:t>
            </a:r>
            <a:r>
              <a:rPr lang="en-US" sz="2000" dirty="0">
                <a:latin typeface="Times New Roman" panose="02020603050405020304" pitchFamily="18" charset="0"/>
                <a:ea typeface="Arial" charset="0"/>
                <a:cs typeface="Times New Roman" panose="02020603050405020304" pitchFamily="18" charset="0"/>
              </a:rPr>
              <a:t> e </a:t>
            </a:r>
            <a:r>
              <a:rPr lang="en-US" sz="2000" dirty="0" err="1">
                <a:latin typeface="Times New Roman" panose="02020603050405020304" pitchFamily="18" charset="0"/>
                <a:ea typeface="Arial" charset="0"/>
                <a:cs typeface="Times New Roman" panose="02020603050405020304" pitchFamily="18" charset="0"/>
              </a:rPr>
              <a:t>Processamento</a:t>
            </a:r>
            <a:r>
              <a:rPr lang="en-US" sz="2000" dirty="0">
                <a:latin typeface="Times New Roman" panose="02020603050405020304" pitchFamily="18" charset="0"/>
                <a:ea typeface="Arial" charset="0"/>
                <a:cs typeface="Times New Roman" panose="02020603050405020304" pitchFamily="18" charset="0"/>
              </a:rPr>
              <a:t> de </a:t>
            </a:r>
            <a:r>
              <a:rPr lang="en-US" sz="2000" dirty="0" err="1">
                <a:latin typeface="Times New Roman" panose="02020603050405020304" pitchFamily="18" charset="0"/>
                <a:ea typeface="Arial" charset="0"/>
                <a:cs typeface="Times New Roman" panose="02020603050405020304" pitchFamily="18" charset="0"/>
              </a:rPr>
              <a:t>Sinais</a:t>
            </a:r>
            <a:r>
              <a:rPr lang="en-US" sz="2000" dirty="0">
                <a:latin typeface="Times New Roman" panose="02020603050405020304" pitchFamily="18" charset="0"/>
                <a:ea typeface="Arial" charset="0"/>
                <a:cs typeface="Times New Roman" panose="02020603050405020304" pitchFamily="18" charset="0"/>
              </a:rPr>
              <a:t> (</a:t>
            </a:r>
            <a:r>
              <a:rPr lang="en-US" sz="2000" dirty="0" err="1">
                <a:latin typeface="Times New Roman" panose="02020603050405020304" pitchFamily="18" charset="0"/>
                <a:ea typeface="Arial" charset="0"/>
                <a:cs typeface="Times New Roman" panose="02020603050405020304" pitchFamily="18" charset="0"/>
              </a:rPr>
              <a:t>SBrT</a:t>
            </a:r>
            <a:r>
              <a:rPr lang="en-US" sz="2000" dirty="0">
                <a:latin typeface="Times New Roman" panose="02020603050405020304" pitchFamily="18" charset="0"/>
                <a:ea typeface="Arial" charset="0"/>
                <a:cs typeface="Times New Roman" panose="02020603050405020304" pitchFamily="18" charset="0"/>
              </a:rPr>
              <a:t>) 37 (2018) 895–899. </a:t>
            </a:r>
          </a:p>
          <a:p>
            <a:pPr algn="just">
              <a:lnSpc>
                <a:spcPct val="150000"/>
              </a:lnSpc>
              <a:buClr>
                <a:schemeClr val="tx2"/>
              </a:buClr>
              <a:buFont typeface="+mj-lt"/>
              <a:buAutoNum type="arabicPeriod"/>
              <a:defRPr/>
            </a:pPr>
            <a:r>
              <a:rPr lang="en-US" sz="2000" dirty="0">
                <a:latin typeface="Times New Roman" panose="02020603050405020304" pitchFamily="18" charset="0"/>
                <a:ea typeface="Arial" charset="0"/>
                <a:cs typeface="Times New Roman" panose="02020603050405020304" pitchFamily="18" charset="0"/>
              </a:rPr>
              <a:t>    C. Espinosa Sandoval, Multiple face detection and recognition system design applying deep learning in web browsers, University of Arkansas </a:t>
            </a:r>
            <a:r>
              <a:rPr lang="en-US" sz="2000" dirty="0" err="1">
                <a:latin typeface="Times New Roman" panose="02020603050405020304" pitchFamily="18" charset="0"/>
                <a:ea typeface="Arial" charset="0"/>
                <a:cs typeface="Times New Roman" panose="02020603050405020304" pitchFamily="18" charset="0"/>
              </a:rPr>
              <a:t>ScholarWorks</a:t>
            </a:r>
            <a:r>
              <a:rPr lang="en-US" sz="2000" dirty="0">
                <a:latin typeface="Times New Roman" panose="02020603050405020304" pitchFamily="18" charset="0"/>
                <a:ea typeface="Arial" charset="0"/>
                <a:cs typeface="Times New Roman" panose="02020603050405020304" pitchFamily="18" charset="0"/>
              </a:rPr>
              <a:t> (2019). </a:t>
            </a:r>
            <a:r>
              <a:rPr lang="en-US" sz="2000" dirty="0" err="1">
                <a:latin typeface="Times New Roman" panose="02020603050405020304" pitchFamily="18" charset="0"/>
                <a:ea typeface="Arial" charset="0"/>
                <a:cs typeface="Times New Roman" panose="02020603050405020304" pitchFamily="18" charset="0"/>
              </a:rPr>
              <a:t>csceuht</a:t>
            </a:r>
            <a:r>
              <a:rPr lang="en-US" sz="2000" dirty="0">
                <a:latin typeface="Times New Roman" panose="02020603050405020304" pitchFamily="18" charset="0"/>
                <a:ea typeface="Arial" charset="0"/>
                <a:cs typeface="Times New Roman" panose="02020603050405020304" pitchFamily="18" charset="0"/>
              </a:rPr>
              <a:t>/74/</a:t>
            </a:r>
          </a:p>
          <a:p>
            <a:pPr algn="just">
              <a:lnSpc>
                <a:spcPct val="150000"/>
              </a:lnSpc>
              <a:buClr>
                <a:schemeClr val="tx2"/>
              </a:buClr>
              <a:buFont typeface="+mj-lt"/>
              <a:buAutoNum type="arabicPeriod"/>
              <a:defRPr/>
            </a:pPr>
            <a:r>
              <a:rPr lang="en-US" sz="2000" dirty="0">
                <a:latin typeface="Times New Roman" panose="02020603050405020304" pitchFamily="18" charset="0"/>
                <a:ea typeface="Arial" charset="0"/>
                <a:cs typeface="Times New Roman" panose="02020603050405020304" pitchFamily="18" charset="0"/>
              </a:rPr>
              <a:t>    M. Rodriguez, C. Johnson, Anti-cheating mechanisms in online learning: A review of current techniques, Journal of E-Learning and Higher Education 2021 (2021) 1–10.</a:t>
            </a:r>
          </a:p>
        </p:txBody>
      </p:sp>
      <p:sp>
        <p:nvSpPr>
          <p:cNvPr id="1039" name="TextBox 1038">
            <a:extLst>
              <a:ext uri="{FF2B5EF4-FFF2-40B4-BE49-F238E27FC236}">
                <a16:creationId xmlns:a16="http://schemas.microsoft.com/office/drawing/2014/main" id="{C205E587-4D85-E83B-4A33-B7BFC8E89E46}"/>
              </a:ext>
            </a:extLst>
          </p:cNvPr>
          <p:cNvSpPr txBox="1">
            <a:spLocks/>
          </p:cNvSpPr>
          <p:nvPr/>
        </p:nvSpPr>
        <p:spPr>
          <a:xfrm>
            <a:off x="19133977" y="35956251"/>
            <a:ext cx="8114593" cy="5665975"/>
          </a:xfrm>
          <a:prstGeom prst="rect">
            <a:avLst/>
          </a:prstGeom>
          <a:solidFill>
            <a:schemeClr val="bg1">
              <a:alpha val="63000"/>
            </a:schemeClr>
          </a:solidFill>
          <a:effectLst/>
        </p:spPr>
        <p:txBody>
          <a:bodyPr wrap="square">
            <a:spAutoFit/>
          </a:bodyPr>
          <a:lstStyle/>
          <a:p>
            <a:pPr algn="just">
              <a:lnSpc>
                <a:spcPts val="3167"/>
              </a:lnSpc>
              <a:spcAft>
                <a:spcPts val="1000"/>
              </a:spcAft>
              <a:buClr>
                <a:schemeClr val="tx2"/>
              </a:buClr>
              <a:defRPr/>
            </a:pPr>
            <a:r>
              <a:rPr lang="en-US" sz="4000" b="1" dirty="0">
                <a:solidFill>
                  <a:srgbClr val="005BBB"/>
                </a:solidFill>
                <a:latin typeface="Times New Roman" panose="02020603050405020304" pitchFamily="18" charset="0"/>
                <a:cs typeface="Times New Roman" panose="02020603050405020304" pitchFamily="18" charset="0"/>
              </a:rPr>
              <a:t>Acknowledgement</a:t>
            </a:r>
          </a:p>
          <a:p>
            <a:pPr algn="just">
              <a:lnSpc>
                <a:spcPts val="3570"/>
              </a:lnSpc>
              <a:spcAft>
                <a:spcPts val="1000"/>
              </a:spcAft>
              <a:buClr>
                <a:schemeClr val="tx2"/>
              </a:buClr>
              <a:defRPr/>
            </a:pPr>
            <a:r>
              <a:rPr lang="en-GB" sz="2400" dirty="0">
                <a:latin typeface="Times New Roman" panose="02020603050405020304" pitchFamily="18" charset="0"/>
                <a:ea typeface="Arial" charset="0"/>
                <a:cs typeface="Times New Roman" panose="02020603050405020304" pitchFamily="18" charset="0"/>
              </a:rPr>
              <a:t>It was the guidance, feedback, and cooperation of the people involved that made possible the development of this model thus, we express our gratitude to all of them. First, we would like to thank the individuals who participated in testing and the team's support during data collection and evaluation of the system. Their input was crucial in maintaining fairness, accuracy, and integrity throughout the entire process. Furthermore, we would like to acknowledge the technical assistance and constructive suggestions which helped to improve the system's performance. Lastly, a big thank you to all who provided time, resources, and support to make this research happen.</a:t>
            </a:r>
            <a:endParaRPr lang="en-US" sz="2400" dirty="0">
              <a:latin typeface="Times New Roman" panose="02020603050405020304" pitchFamily="18" charset="0"/>
              <a:ea typeface="Arial" charset="0"/>
              <a:cs typeface="Times New Roman" panose="02020603050405020304" pitchFamily="18" charset="0"/>
            </a:endParaRPr>
          </a:p>
        </p:txBody>
      </p:sp>
      <p:cxnSp>
        <p:nvCxnSpPr>
          <p:cNvPr id="1041" name="Straight Connector 1040">
            <a:extLst>
              <a:ext uri="{FF2B5EF4-FFF2-40B4-BE49-F238E27FC236}">
                <a16:creationId xmlns:a16="http://schemas.microsoft.com/office/drawing/2014/main" id="{93EE4163-5C27-4906-3EC6-77FEC3F7A1CD}"/>
              </a:ext>
            </a:extLst>
          </p:cNvPr>
          <p:cNvCxnSpPr/>
          <p:nvPr/>
        </p:nvCxnSpPr>
        <p:spPr bwMode="auto">
          <a:xfrm>
            <a:off x="995842" y="25835808"/>
            <a:ext cx="8153400" cy="0"/>
          </a:xfrm>
          <a:prstGeom prst="line">
            <a:avLst/>
          </a:prstGeom>
          <a:noFill/>
          <a:ln w="25400" cap="flat" cmpd="sng" algn="ctr">
            <a:solidFill>
              <a:schemeClr val="tx1"/>
            </a:solidFill>
            <a:prstDash val="dash"/>
            <a:round/>
            <a:headEnd type="none" w="med" len="med"/>
            <a:tailEnd type="none" w="med" len="med"/>
          </a:ln>
          <a:effectLst/>
        </p:spPr>
      </p:cxnSp>
      <p:sp>
        <p:nvSpPr>
          <p:cNvPr id="2" name="TextBox 1">
            <a:extLst>
              <a:ext uri="{FF2B5EF4-FFF2-40B4-BE49-F238E27FC236}">
                <a16:creationId xmlns:a16="http://schemas.microsoft.com/office/drawing/2014/main" id="{EC13C292-6D19-B141-05A3-5704DC93016B}"/>
              </a:ext>
            </a:extLst>
          </p:cNvPr>
          <p:cNvSpPr txBox="1"/>
          <p:nvPr/>
        </p:nvSpPr>
        <p:spPr>
          <a:xfrm>
            <a:off x="869055" y="10437984"/>
            <a:ext cx="8191500" cy="10795584"/>
          </a:xfrm>
          <a:prstGeom prst="rect">
            <a:avLst/>
          </a:prstGeom>
          <a:solidFill>
            <a:schemeClr val="bg1">
              <a:alpha val="63000"/>
            </a:schemeClr>
          </a:solidFill>
          <a:effectLst/>
        </p:spPr>
        <p:txBody>
          <a:bodyPr>
            <a:spAutoFit/>
          </a:bodyPr>
          <a:lstStyle/>
          <a:p>
            <a:pPr algn="just">
              <a:lnSpc>
                <a:spcPct val="150000"/>
              </a:lnSpc>
              <a:spcAft>
                <a:spcPts val="1000"/>
              </a:spcAft>
              <a:defRPr/>
            </a:pPr>
            <a:r>
              <a:rPr lang="en-US" sz="4000" b="1" dirty="0">
                <a:solidFill>
                  <a:srgbClr val="005BBB"/>
                </a:solidFill>
                <a:latin typeface="Times New Roman" panose="02020603050405020304" pitchFamily="18" charset="0"/>
                <a:cs typeface="Times New Roman" panose="02020603050405020304" pitchFamily="18" charset="0"/>
              </a:rPr>
              <a:t>Methodology</a:t>
            </a:r>
          </a:p>
          <a:p>
            <a:pPr algn="just">
              <a:lnSpc>
                <a:spcPts val="3570"/>
              </a:lnSpc>
              <a:spcAft>
                <a:spcPts val="1000"/>
              </a:spcAft>
              <a:defRPr/>
            </a:pPr>
            <a:r>
              <a:rPr lang="en-GB" sz="2400" dirty="0">
                <a:latin typeface="Times New Roman" panose="02020603050405020304" pitchFamily="18" charset="0"/>
                <a:cs typeface="Times New Roman" panose="02020603050405020304" pitchFamily="18" charset="0"/>
              </a:rPr>
              <a:t>This study follows the Design Science Research Methodology (DSRM), beginning with the identification of the core problem: the difficulty of assessing user confidence in virtual environments where traditional cues are harder to interpret. To address this, the system was designed using </a:t>
            </a:r>
            <a:r>
              <a:rPr lang="en-GB" sz="2400" dirty="0" err="1">
                <a:latin typeface="Times New Roman" panose="02020603050405020304" pitchFamily="18" charset="0"/>
                <a:cs typeface="Times New Roman" panose="02020603050405020304" pitchFamily="18" charset="0"/>
              </a:rPr>
              <a:t>MediaPipe</a:t>
            </a:r>
            <a:r>
              <a:rPr lang="en-GB" sz="2400" dirty="0">
                <a:latin typeface="Times New Roman" panose="02020603050405020304" pitchFamily="18" charset="0"/>
                <a:cs typeface="Times New Roman" panose="02020603050405020304" pitchFamily="18" charset="0"/>
              </a:rPr>
              <a:t> Face Mesh with 468 facial landmarks, </a:t>
            </a:r>
            <a:r>
              <a:rPr lang="en-GB" sz="2400" dirty="0" err="1">
                <a:latin typeface="Times New Roman" panose="02020603050405020304" pitchFamily="18" charset="0"/>
                <a:cs typeface="Times New Roman" panose="02020603050405020304" pitchFamily="18" charset="0"/>
              </a:rPr>
              <a:t>MediaPipe</a:t>
            </a:r>
            <a:r>
              <a:rPr lang="en-GB" sz="2400" dirty="0">
                <a:latin typeface="Times New Roman" panose="02020603050405020304" pitchFamily="18" charset="0"/>
                <a:cs typeface="Times New Roman" panose="02020603050405020304" pitchFamily="18" charset="0"/>
              </a:rPr>
              <a:t> Hands with 21 hand landmarks, the Web Audio API for real-time vocal analysis, and JavaScript to enable lightweight, browser-based processing. Feature extraction focused on capturing facial </a:t>
            </a:r>
            <a:r>
              <a:rPr lang="en-GB" sz="2400" dirty="0" err="1">
                <a:latin typeface="Times New Roman" panose="02020603050405020304" pitchFamily="18" charset="0"/>
                <a:cs typeface="Times New Roman" panose="02020603050405020304" pitchFamily="18" charset="0"/>
              </a:rPr>
              <a:t>behaviors</a:t>
            </a:r>
            <a:r>
              <a:rPr lang="en-GB" sz="2400" dirty="0">
                <a:latin typeface="Times New Roman" panose="02020603050405020304" pitchFamily="18" charset="0"/>
                <a:cs typeface="Times New Roman" panose="02020603050405020304" pitchFamily="18" charset="0"/>
              </a:rPr>
              <a:t> such as gaze direction, blink rate, head pose, expressions, and lip movement; hand-related </a:t>
            </a:r>
            <a:r>
              <a:rPr lang="en-GB" sz="2400" dirty="0" err="1">
                <a:latin typeface="Times New Roman" panose="02020603050405020304" pitchFamily="18" charset="0"/>
                <a:cs typeface="Times New Roman" panose="02020603050405020304" pitchFamily="18" charset="0"/>
              </a:rPr>
              <a:t>behaviors</a:t>
            </a:r>
            <a:r>
              <a:rPr lang="en-GB" sz="2400" dirty="0">
                <a:latin typeface="Times New Roman" panose="02020603050405020304" pitchFamily="18" charset="0"/>
                <a:cs typeface="Times New Roman" panose="02020603050405020304" pitchFamily="18" charset="0"/>
              </a:rPr>
              <a:t> including gesture clarity, speed, palm orientation, and fidgeting; and vocal characteristics encompassing pitch, jitter, loudness, and spectral centroid. These multimodal features were combined to compute a unified confidence score, where vocal features contributed 40%, facial features 30%, and hand gestures 30%, ensuring a balanced weighted fusion that generated scores between 0 and 100. The system was then tested and optimized through simulated online interviews and classroom scenarios, comparison with human evaluators, and targeted latency improvements to ensure smooth real-time performance even on low-end devices.</a:t>
            </a:r>
            <a:endParaRPr lang="en-US" sz="2400" dirty="0">
              <a:latin typeface="Times New Roman" panose="02020603050405020304" pitchFamily="18" charset="0"/>
              <a:ea typeface="Arial" charset="0"/>
              <a:cs typeface="Times New Roman" panose="02020603050405020304" pitchFamily="18" charset="0"/>
            </a:endParaRPr>
          </a:p>
        </p:txBody>
      </p:sp>
      <p:pic>
        <p:nvPicPr>
          <p:cNvPr id="11" name="Picture 10" descr="A screenshot of a computer&#10;&#10;AI-generated content may be incorrect.">
            <a:extLst>
              <a:ext uri="{FF2B5EF4-FFF2-40B4-BE49-F238E27FC236}">
                <a16:creationId xmlns:a16="http://schemas.microsoft.com/office/drawing/2014/main" id="{AD16643B-2002-3C34-0FFD-D5CE41ED24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1231" y="35938324"/>
            <a:ext cx="3812260" cy="2995120"/>
          </a:xfrm>
          <a:prstGeom prst="rect">
            <a:avLst/>
          </a:prstGeom>
        </p:spPr>
      </p:pic>
      <p:pic>
        <p:nvPicPr>
          <p:cNvPr id="16" name="Picture 15" descr="A screenshot of a computer&#10;&#10;AI-generated content may be incorrect.">
            <a:extLst>
              <a:ext uri="{FF2B5EF4-FFF2-40B4-BE49-F238E27FC236}">
                <a16:creationId xmlns:a16="http://schemas.microsoft.com/office/drawing/2014/main" id="{B4D3A0CC-E2D5-BEA9-A368-155D367ED2B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05339" y="4128502"/>
            <a:ext cx="7898486" cy="3227650"/>
          </a:xfrm>
          <a:prstGeom prst="rect">
            <a:avLst/>
          </a:prstGeom>
        </p:spPr>
      </p:pic>
      <p:pic>
        <p:nvPicPr>
          <p:cNvPr id="20" name="Picture 19" descr="A graph on a purple background&#10;&#10;AI-generated content may be incorrect.">
            <a:extLst>
              <a:ext uri="{FF2B5EF4-FFF2-40B4-BE49-F238E27FC236}">
                <a16:creationId xmlns:a16="http://schemas.microsoft.com/office/drawing/2014/main" id="{07D55F7D-645A-D650-6527-DAC353F5FE1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08390" y="10247849"/>
            <a:ext cx="7932334" cy="2523302"/>
          </a:xfrm>
          <a:prstGeom prst="rect">
            <a:avLst/>
          </a:prstGeom>
        </p:spPr>
      </p:pic>
      <p:pic>
        <p:nvPicPr>
          <p:cNvPr id="24" name="Picture 23" descr="A graph of a graph showing a number of people&#10;&#10;AI-generated content may be incorrect.">
            <a:extLst>
              <a:ext uri="{FF2B5EF4-FFF2-40B4-BE49-F238E27FC236}">
                <a16:creationId xmlns:a16="http://schemas.microsoft.com/office/drawing/2014/main" id="{B8D8572E-EE88-143F-BDA9-B7641080DFA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617700" y="38799517"/>
            <a:ext cx="3597522" cy="2952305"/>
          </a:xfrm>
          <a:prstGeom prst="rect">
            <a:avLst/>
          </a:prstGeom>
        </p:spPr>
      </p:pic>
      <p:pic>
        <p:nvPicPr>
          <p:cNvPr id="26" name="Picture 25" descr="A graph showing different colored squares&#10;&#10;AI-generated content may be incorrect.">
            <a:extLst>
              <a:ext uri="{FF2B5EF4-FFF2-40B4-BE49-F238E27FC236}">
                <a16:creationId xmlns:a16="http://schemas.microsoft.com/office/drawing/2014/main" id="{9EBBFB7F-4FB2-1AB8-5D48-1BC33B13CF0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108389" y="38835173"/>
            <a:ext cx="4509311" cy="2995120"/>
          </a:xfrm>
          <a:prstGeom prst="rect">
            <a:avLst/>
          </a:prstGeom>
        </p:spPr>
      </p:pic>
      <p:pic>
        <p:nvPicPr>
          <p:cNvPr id="28" name="Picture 27" descr="A graph with blue lines and dots&#10;&#10;AI-generated content may be incorrect.">
            <a:extLst>
              <a:ext uri="{FF2B5EF4-FFF2-40B4-BE49-F238E27FC236}">
                <a16:creationId xmlns:a16="http://schemas.microsoft.com/office/drawing/2014/main" id="{D84598A3-0D92-28F6-0E87-75261A80154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108389" y="35028051"/>
            <a:ext cx="8106833" cy="3725633"/>
          </a:xfrm>
          <a:prstGeom prst="rect">
            <a:avLst/>
          </a:prstGeom>
        </p:spPr>
      </p:pic>
      <p:pic>
        <p:nvPicPr>
          <p:cNvPr id="30" name="Picture 29" descr="A graph with blue and orange lines&#10;&#10;AI-generated content may be incorrect.">
            <a:extLst>
              <a:ext uri="{FF2B5EF4-FFF2-40B4-BE49-F238E27FC236}">
                <a16:creationId xmlns:a16="http://schemas.microsoft.com/office/drawing/2014/main" id="{0F172623-DC85-8FE2-87B4-03E4FF4BB78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108389" y="31644772"/>
            <a:ext cx="8106833" cy="3305734"/>
          </a:xfrm>
          <a:prstGeom prst="rect">
            <a:avLst/>
          </a:prstGeom>
        </p:spPr>
      </p:pic>
      <p:pic>
        <p:nvPicPr>
          <p:cNvPr id="32" name="Picture 31" descr="A graph with blue and orange lines&#10;&#10;AI-generated content may be incorrect.">
            <a:extLst>
              <a:ext uri="{FF2B5EF4-FFF2-40B4-BE49-F238E27FC236}">
                <a16:creationId xmlns:a16="http://schemas.microsoft.com/office/drawing/2014/main" id="{ED37F820-C8D5-CC8A-476A-A6F3A1D624E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108389" y="27912042"/>
            <a:ext cx="8106833" cy="3581239"/>
          </a:xfrm>
          <a:prstGeom prst="rect">
            <a:avLst/>
          </a:prstGeom>
        </p:spPr>
      </p:pic>
      <p:sp>
        <p:nvSpPr>
          <p:cNvPr id="33" name="TextBox 32">
            <a:extLst>
              <a:ext uri="{FF2B5EF4-FFF2-40B4-BE49-F238E27FC236}">
                <a16:creationId xmlns:a16="http://schemas.microsoft.com/office/drawing/2014/main" id="{86A7C4E1-2FC2-329E-D8FB-4ABBC93DBA4F}"/>
              </a:ext>
            </a:extLst>
          </p:cNvPr>
          <p:cNvSpPr txBox="1">
            <a:spLocks/>
          </p:cNvSpPr>
          <p:nvPr/>
        </p:nvSpPr>
        <p:spPr>
          <a:xfrm>
            <a:off x="19133977" y="16599307"/>
            <a:ext cx="7969676" cy="7512634"/>
          </a:xfrm>
          <a:prstGeom prst="rect">
            <a:avLst/>
          </a:prstGeom>
          <a:solidFill>
            <a:schemeClr val="bg1">
              <a:alpha val="63000"/>
            </a:schemeClr>
          </a:solidFill>
          <a:effectLst/>
        </p:spPr>
        <p:txBody>
          <a:bodyPr wrap="square">
            <a:spAutoFit/>
          </a:bodyPr>
          <a:lstStyle/>
          <a:p>
            <a:pPr algn="just">
              <a:lnSpc>
                <a:spcPts val="3167"/>
              </a:lnSpc>
              <a:spcAft>
                <a:spcPts val="1000"/>
              </a:spcAft>
              <a:buClr>
                <a:schemeClr val="tx2"/>
              </a:buClr>
              <a:defRPr/>
            </a:pPr>
            <a:r>
              <a:rPr lang="en-US" sz="4000" b="1" dirty="0">
                <a:solidFill>
                  <a:srgbClr val="005BBB"/>
                </a:solidFill>
                <a:latin typeface="Times New Roman" panose="02020603050405020304" pitchFamily="18" charset="0"/>
                <a:cs typeface="Times New Roman" panose="02020603050405020304" pitchFamily="18" charset="0"/>
              </a:rPr>
              <a:t>Future Work</a:t>
            </a:r>
          </a:p>
          <a:p>
            <a:pPr marL="342900" indent="-342900" algn="just">
              <a:lnSpc>
                <a:spcPts val="3570"/>
              </a:lnSpc>
              <a:buFont typeface="Arial" panose="020B0604020202020204" pitchFamily="34" charset="0"/>
              <a:buChar char="•"/>
            </a:pPr>
            <a:r>
              <a:rPr lang="en-GB" sz="2400" b="1" dirty="0">
                <a:latin typeface="Times New Roman" panose="02020603050405020304" pitchFamily="18" charset="0"/>
                <a:cs typeface="Times New Roman" panose="02020603050405020304" pitchFamily="18" charset="0"/>
              </a:rPr>
              <a:t>Multi-face detection:	</a:t>
            </a:r>
            <a:r>
              <a:rPr lang="en-GB" sz="2400" dirty="0">
                <a:latin typeface="Times New Roman" panose="02020603050405020304" pitchFamily="18" charset="0"/>
                <a:cs typeface="Times New Roman" panose="02020603050405020304" pitchFamily="18" charset="0"/>
              </a:rPr>
              <a:t>Enable the system to track and </a:t>
            </a:r>
            <a:r>
              <a:rPr lang="en-GB" sz="2400" dirty="0" err="1">
                <a:latin typeface="Times New Roman" panose="02020603050405020304" pitchFamily="18" charset="0"/>
                <a:cs typeface="Times New Roman" panose="02020603050405020304" pitchFamily="18" charset="0"/>
              </a:rPr>
              <a:t>analyze</a:t>
            </a:r>
            <a:r>
              <a:rPr lang="en-GB" sz="2400" dirty="0">
                <a:latin typeface="Times New Roman" panose="02020603050405020304" pitchFamily="18" charset="0"/>
                <a:cs typeface="Times New Roman" panose="02020603050405020304" pitchFamily="18" charset="0"/>
              </a:rPr>
              <a:t> multiple users simultaneously for group meetings, classrooms, and collaborative settings.</a:t>
            </a:r>
          </a:p>
          <a:p>
            <a:pPr marL="342900" indent="-342900" algn="just">
              <a:lnSpc>
                <a:spcPts val="3570"/>
              </a:lnSpc>
              <a:buFont typeface="Arial" panose="020B0604020202020204" pitchFamily="34" charset="0"/>
              <a:buChar char="•"/>
            </a:pPr>
            <a:r>
              <a:rPr lang="en-GB" sz="2400" b="1" dirty="0">
                <a:latin typeface="Times New Roman" panose="02020603050405020304" pitchFamily="18" charset="0"/>
                <a:cs typeface="Times New Roman" panose="02020603050405020304" pitchFamily="18" charset="0"/>
              </a:rPr>
              <a:t>Advanced hand-gesture recognition: </a:t>
            </a:r>
            <a:r>
              <a:rPr lang="en-GB" sz="2400" dirty="0">
                <a:latin typeface="Times New Roman" panose="02020603050405020304" pitchFamily="18" charset="0"/>
                <a:cs typeface="Times New Roman" panose="02020603050405020304" pitchFamily="18" charset="0"/>
              </a:rPr>
              <a:t>Incorporate more detailed gesture classification to capture complex expressive movements often used during presentations or interviews.</a:t>
            </a:r>
          </a:p>
          <a:p>
            <a:pPr marL="342900" indent="-342900" algn="just">
              <a:lnSpc>
                <a:spcPts val="3570"/>
              </a:lnSpc>
              <a:buFont typeface="Arial" panose="020B0604020202020204" pitchFamily="34" charset="0"/>
              <a:buChar char="•"/>
            </a:pPr>
            <a:r>
              <a:rPr lang="en-GB" sz="2400" b="1" dirty="0">
                <a:latin typeface="Times New Roman" panose="02020603050405020304" pitchFamily="18" charset="0"/>
                <a:cs typeface="Times New Roman" panose="02020603050405020304" pitchFamily="18" charset="0"/>
              </a:rPr>
              <a:t>Eyebrow movement analysis: </a:t>
            </a:r>
            <a:r>
              <a:rPr lang="en-GB" sz="2400" dirty="0">
                <a:latin typeface="Times New Roman" panose="02020603050405020304" pitchFamily="18" charset="0"/>
                <a:cs typeface="Times New Roman" panose="02020603050405020304" pitchFamily="18" charset="0"/>
              </a:rPr>
              <a:t>Add detection of subtle eyebrow dynamics to improve recognition of emotional cues such as doubt, emphasis, or surprise.</a:t>
            </a:r>
          </a:p>
          <a:p>
            <a:pPr marL="342900" indent="-342900" algn="just">
              <a:lnSpc>
                <a:spcPts val="3570"/>
              </a:lnSpc>
              <a:buFont typeface="Arial" panose="020B0604020202020204" pitchFamily="34" charset="0"/>
              <a:buChar char="•"/>
            </a:pPr>
            <a:r>
              <a:rPr lang="en-GB" sz="2400" b="1" dirty="0">
                <a:latin typeface="Times New Roman" panose="02020603050405020304" pitchFamily="18" charset="0"/>
                <a:cs typeface="Times New Roman" panose="02020603050405020304" pitchFamily="18" charset="0"/>
              </a:rPr>
              <a:t>Enhanced visual feedback: </a:t>
            </a:r>
            <a:r>
              <a:rPr lang="en-GB" sz="2400" dirty="0">
                <a:latin typeface="Times New Roman" panose="02020603050405020304" pitchFamily="18" charset="0"/>
                <a:cs typeface="Times New Roman" panose="02020603050405020304" pitchFamily="18" charset="0"/>
              </a:rPr>
              <a:t>Introduce real-time overlays, including facial landmarks, gesture paths, and confidence indicators, to make feedback more intuitive for users.</a:t>
            </a:r>
          </a:p>
          <a:p>
            <a:pPr marL="342900" indent="-342900" algn="just">
              <a:lnSpc>
                <a:spcPts val="3570"/>
              </a:lnSpc>
              <a:buFont typeface="Arial" panose="020B0604020202020204" pitchFamily="34" charset="0"/>
              <a:buChar char="•"/>
            </a:pPr>
            <a:r>
              <a:rPr lang="en-GB" sz="2400" b="1" dirty="0">
                <a:latin typeface="Times New Roman" panose="02020603050405020304" pitchFamily="18" charset="0"/>
                <a:cs typeface="Times New Roman" panose="02020603050405020304" pitchFamily="18" charset="0"/>
              </a:rPr>
              <a:t>Improved model accuracy: </a:t>
            </a:r>
            <a:r>
              <a:rPr lang="en-GB" sz="2400" dirty="0">
                <a:latin typeface="Times New Roman" panose="02020603050405020304" pitchFamily="18" charset="0"/>
                <a:cs typeface="Times New Roman" panose="02020603050405020304" pitchFamily="18" charset="0"/>
              </a:rPr>
              <a:t>Train the system with larger and more diverse datasets to handle variations in culture, lighting, and individual </a:t>
            </a:r>
            <a:r>
              <a:rPr lang="en-GB" sz="2400" dirty="0" err="1">
                <a:latin typeface="Times New Roman" panose="02020603050405020304" pitchFamily="18" charset="0"/>
                <a:cs typeface="Times New Roman" panose="02020603050405020304" pitchFamily="18" charset="0"/>
              </a:rPr>
              <a:t>behavior</a:t>
            </a:r>
            <a:r>
              <a:rPr lang="en-GB" sz="2400" dirty="0">
                <a:latin typeface="Times New Roman" panose="02020603050405020304" pitchFamily="18" charset="0"/>
                <a:cs typeface="Times New Roman" panose="02020603050405020304" pitchFamily="18" charset="0"/>
              </a:rPr>
              <a:t>.</a:t>
            </a:r>
          </a:p>
        </p:txBody>
      </p:sp>
      <p:cxnSp>
        <p:nvCxnSpPr>
          <p:cNvPr id="34" name="Straight Connector 33">
            <a:extLst>
              <a:ext uri="{FF2B5EF4-FFF2-40B4-BE49-F238E27FC236}">
                <a16:creationId xmlns:a16="http://schemas.microsoft.com/office/drawing/2014/main" id="{DC895EB8-CF9A-3DE0-5FD0-9E115849F835}"/>
              </a:ext>
            </a:extLst>
          </p:cNvPr>
          <p:cNvCxnSpPr>
            <a:cxnSpLocks/>
          </p:cNvCxnSpPr>
          <p:nvPr/>
        </p:nvCxnSpPr>
        <p:spPr bwMode="auto">
          <a:xfrm>
            <a:off x="19320933" y="16329945"/>
            <a:ext cx="7782720" cy="0"/>
          </a:xfrm>
          <a:prstGeom prst="line">
            <a:avLst/>
          </a:prstGeom>
          <a:noFill/>
          <a:ln w="25400" cap="flat" cmpd="sng" algn="ctr">
            <a:solidFill>
              <a:schemeClr val="tx1"/>
            </a:solidFill>
            <a:prstDash val="dash"/>
            <a:round/>
            <a:headEnd type="none" w="med" len="med"/>
            <a:tailEnd type="none" w="med" len="med"/>
          </a:ln>
          <a:effectLst/>
        </p:spPr>
      </p:cxnSp>
      <p:cxnSp>
        <p:nvCxnSpPr>
          <p:cNvPr id="38" name="Straight Connector 37">
            <a:extLst>
              <a:ext uri="{FF2B5EF4-FFF2-40B4-BE49-F238E27FC236}">
                <a16:creationId xmlns:a16="http://schemas.microsoft.com/office/drawing/2014/main" id="{0863CF8D-068C-6264-1151-C4F0C0A7C84F}"/>
              </a:ext>
            </a:extLst>
          </p:cNvPr>
          <p:cNvCxnSpPr>
            <a:cxnSpLocks/>
          </p:cNvCxnSpPr>
          <p:nvPr/>
        </p:nvCxnSpPr>
        <p:spPr bwMode="auto">
          <a:xfrm>
            <a:off x="19465850" y="24449692"/>
            <a:ext cx="7637803" cy="0"/>
          </a:xfrm>
          <a:prstGeom prst="line">
            <a:avLst/>
          </a:prstGeom>
          <a:noFill/>
          <a:ln w="25400" cap="flat" cmpd="sng" algn="ctr">
            <a:solidFill>
              <a:schemeClr val="tx1"/>
            </a:solidFill>
            <a:prstDash val="dash"/>
            <a:round/>
            <a:headEnd type="none" w="med" len="med"/>
            <a:tailEnd type="none" w="med" len="med"/>
          </a:ln>
          <a:effectLst/>
        </p:spPr>
      </p:cxnSp>
      <p:cxnSp>
        <p:nvCxnSpPr>
          <p:cNvPr id="39" name="Straight Connector 38">
            <a:extLst>
              <a:ext uri="{FF2B5EF4-FFF2-40B4-BE49-F238E27FC236}">
                <a16:creationId xmlns:a16="http://schemas.microsoft.com/office/drawing/2014/main" id="{E56F5192-18F2-7DFF-667C-90A200B46FC8}"/>
              </a:ext>
            </a:extLst>
          </p:cNvPr>
          <p:cNvCxnSpPr/>
          <p:nvPr/>
        </p:nvCxnSpPr>
        <p:spPr bwMode="auto">
          <a:xfrm>
            <a:off x="19135592" y="35604955"/>
            <a:ext cx="8153400" cy="0"/>
          </a:xfrm>
          <a:prstGeom prst="line">
            <a:avLst/>
          </a:prstGeom>
          <a:noFill/>
          <a:ln w="25400" cap="flat" cmpd="sng" algn="ctr">
            <a:solidFill>
              <a:schemeClr val="tx1"/>
            </a:solidFill>
            <a:prstDash val="dash"/>
            <a:round/>
            <a:headEnd type="none" w="med" len="med"/>
            <a:tailEnd type="none" w="med" len="med"/>
          </a:ln>
          <a:effectLst/>
        </p:spPr>
      </p:cxnSp>
      <p:cxnSp>
        <p:nvCxnSpPr>
          <p:cNvPr id="45" name="Straight Connector 44">
            <a:extLst>
              <a:ext uri="{FF2B5EF4-FFF2-40B4-BE49-F238E27FC236}">
                <a16:creationId xmlns:a16="http://schemas.microsoft.com/office/drawing/2014/main" id="{F318313A-28EB-468C-692C-63295BFE2253}"/>
              </a:ext>
            </a:extLst>
          </p:cNvPr>
          <p:cNvCxnSpPr/>
          <p:nvPr/>
        </p:nvCxnSpPr>
        <p:spPr bwMode="auto">
          <a:xfrm>
            <a:off x="19116189" y="42062514"/>
            <a:ext cx="8153400" cy="0"/>
          </a:xfrm>
          <a:prstGeom prst="line">
            <a:avLst/>
          </a:prstGeom>
          <a:noFill/>
          <a:ln w="25400" cap="flat" cmpd="sng" algn="ctr">
            <a:solidFill>
              <a:schemeClr val="tx1"/>
            </a:solidFill>
            <a:prstDash val="dash"/>
            <a:round/>
            <a:headEnd type="none" w="med" len="med"/>
            <a:tailEnd type="none" w="med" len="med"/>
          </a:ln>
          <a:effectLst/>
        </p:spPr>
      </p:cxnSp>
      <p:pic>
        <p:nvPicPr>
          <p:cNvPr id="23" name="Picture 22" descr="A screenshot of a computer&#10;&#10;AI-generated content may be incorrect.">
            <a:extLst>
              <a:ext uri="{FF2B5EF4-FFF2-40B4-BE49-F238E27FC236}">
                <a16:creationId xmlns:a16="http://schemas.microsoft.com/office/drawing/2014/main" id="{78DE3191-AC7B-6393-5B69-76FB0906EC5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332183" y="35977790"/>
            <a:ext cx="3807534" cy="2955653"/>
          </a:xfrm>
          <a:prstGeom prst="rect">
            <a:avLst/>
          </a:prstGeom>
        </p:spPr>
      </p:pic>
      <p:pic>
        <p:nvPicPr>
          <p:cNvPr id="31" name="Picture 30" descr="A screenshot of a computer&#10;&#10;AI-generated content may be incorrect.">
            <a:extLst>
              <a:ext uri="{FF2B5EF4-FFF2-40B4-BE49-F238E27FC236}">
                <a16:creationId xmlns:a16="http://schemas.microsoft.com/office/drawing/2014/main" id="{6408EC6A-D4B4-95E7-DD9B-31ED01AF014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241231" y="39090020"/>
            <a:ext cx="3812260" cy="2867544"/>
          </a:xfrm>
          <a:prstGeom prst="rect">
            <a:avLst/>
          </a:prstGeom>
        </p:spPr>
      </p:pic>
      <p:pic>
        <p:nvPicPr>
          <p:cNvPr id="36" name="Picture 35" descr="A graph on a purple background&#10;&#10;AI-generated content may be incorrect.">
            <a:extLst>
              <a:ext uri="{FF2B5EF4-FFF2-40B4-BE49-F238E27FC236}">
                <a16:creationId xmlns:a16="http://schemas.microsoft.com/office/drawing/2014/main" id="{F38E90A8-62C4-8B81-36E3-51F72A253884}"/>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105339" y="7518646"/>
            <a:ext cx="7932334" cy="2554848"/>
          </a:xfrm>
          <a:prstGeom prst="rect">
            <a:avLst/>
          </a:prstGeom>
        </p:spPr>
      </p:pic>
      <p:pic>
        <p:nvPicPr>
          <p:cNvPr id="40" name="Picture 39" descr="A graph of a graph showing different colored squares&#10;&#10;AI-generated content may be incorrect.">
            <a:extLst>
              <a:ext uri="{FF2B5EF4-FFF2-40B4-BE49-F238E27FC236}">
                <a16:creationId xmlns:a16="http://schemas.microsoft.com/office/drawing/2014/main" id="{A8E3131B-1C11-F967-B6B8-ED2D7E5AF30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8623592" y="4128503"/>
            <a:ext cx="8106833" cy="3377246"/>
          </a:xfrm>
          <a:prstGeom prst="rect">
            <a:avLst/>
          </a:prstGeom>
        </p:spPr>
      </p:pic>
      <p:pic>
        <p:nvPicPr>
          <p:cNvPr id="42" name="Picture 41" descr="A screenshot of a computer&#10;&#10;AI-generated content may be incorrect.">
            <a:extLst>
              <a:ext uri="{FF2B5EF4-FFF2-40B4-BE49-F238E27FC236}">
                <a16:creationId xmlns:a16="http://schemas.microsoft.com/office/drawing/2014/main" id="{653FB0B2-71A7-E06E-E7EE-F2F4BC482854}"/>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5172959" y="39084933"/>
            <a:ext cx="3976284" cy="2867544"/>
          </a:xfrm>
          <a:prstGeom prst="rect">
            <a:avLst/>
          </a:prstGeom>
        </p:spPr>
      </p:pic>
      <p:pic>
        <p:nvPicPr>
          <p:cNvPr id="47" name="Picture 46" descr="A screenshot of a graph&#10;&#10;AI-generated content may be incorrect.">
            <a:extLst>
              <a:ext uri="{FF2B5EF4-FFF2-40B4-BE49-F238E27FC236}">
                <a16:creationId xmlns:a16="http://schemas.microsoft.com/office/drawing/2014/main" id="{A2105509-994B-FCE0-72E9-EB7A258D7DF8}"/>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0105340" y="12925377"/>
            <a:ext cx="7932333" cy="2807058"/>
          </a:xfrm>
          <a:prstGeom prst="rect">
            <a:avLst/>
          </a:prstGeom>
        </p:spPr>
      </p:pic>
    </p:spTree>
    <p:extLst>
      <p:ext uri="{BB962C8B-B14F-4D97-AF65-F5344CB8AC3E}">
        <p14:creationId xmlns:p14="http://schemas.microsoft.com/office/powerpoint/2010/main" val="217828872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452</TotalTime>
  <Words>1477</Words>
  <Application>Microsoft Office PowerPoint</Application>
  <PresentationFormat>Custom</PresentationFormat>
  <Paragraphs>35</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Cambria</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Mazid Ul Haque</dc:creator>
  <cp:lastModifiedBy>RUBAYET ALAM AZAN</cp:lastModifiedBy>
  <cp:revision>24</cp:revision>
  <dcterms:created xsi:type="dcterms:W3CDTF">2025-04-23T14:04:01Z</dcterms:created>
  <dcterms:modified xsi:type="dcterms:W3CDTF">2025-12-02T20:40:57Z</dcterms:modified>
</cp:coreProperties>
</file>