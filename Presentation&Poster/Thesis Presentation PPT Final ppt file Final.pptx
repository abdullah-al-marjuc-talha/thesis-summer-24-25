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8" r:id="rId6"/>
    <p:sldId id="260" r:id="rId7"/>
    <p:sldId id="261" r:id="rId8"/>
    <p:sldId id="271" r:id="rId9"/>
    <p:sldId id="274" r:id="rId10"/>
    <p:sldId id="275" r:id="rId11"/>
    <p:sldId id="262" r:id="rId12"/>
    <p:sldId id="273" r:id="rId13"/>
    <p:sldId id="270" r:id="rId14"/>
    <p:sldId id="263" r:id="rId15"/>
    <p:sldId id="265" r:id="rId16"/>
    <p:sldId id="267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6357" autoAdjust="0"/>
  </p:normalViewPr>
  <p:slideViewPr>
    <p:cSldViewPr snapToGrid="0">
      <p:cViewPr varScale="1">
        <p:scale>
          <a:sx n="89" d="100"/>
          <a:sy n="89" d="100"/>
        </p:scale>
        <p:origin x="128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0A8D24-7722-F944-B4C8-6139F504E7FE}" type="datetimeFigureOut">
              <a:rPr lang="en-BD" smtClean="0"/>
              <a:t>12/04/2025</a:t>
            </a:fld>
            <a:endParaRPr lang="en-B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9D6DE6-FCD6-A545-A3A0-CA02B42FA4AE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476983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9D6DE6-FCD6-A545-A3A0-CA02B42FA4AE}" type="slidenum">
              <a:rPr lang="en-BD" smtClean="0"/>
              <a:t>6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993832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9D6DE6-FCD6-A545-A3A0-CA02B42FA4AE}" type="slidenum">
              <a:rPr lang="en-BD" smtClean="0"/>
              <a:t>8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1817321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DABC0-4D67-926A-F7BF-08189845D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7B1AB1-C766-C817-A54A-77081E5FCB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46104A-65A2-529C-8CC3-647C89CAB0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B26FC0-BEDF-D171-022E-0A55488FBE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9D6DE6-FCD6-A545-A3A0-CA02B42FA4AE}" type="slidenum">
              <a:rPr lang="en-BD" smtClean="0"/>
              <a:t>9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7373112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136F5-64CF-E9F1-D013-797336673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C482B0-48C2-99C9-C979-C0F4833125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FA343C-60BA-2EA8-24A8-A5D8BF6143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BA38B5-93BC-6E85-3C30-26F4812E37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9D6DE6-FCD6-A545-A3A0-CA02B42FA4AE}" type="slidenum">
              <a:rPr lang="en-BD" smtClean="0"/>
              <a:t>10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759026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5997" y="449005"/>
            <a:ext cx="8615370" cy="10805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effectLst/>
                <a:latin typeface="TimesNewRoman13"/>
              </a:rPr>
              <a:t>Confidence Detection System</a:t>
            </a:r>
            <a:br>
              <a:rPr lang="en-US" sz="2400" b="1" dirty="0">
                <a:effectLst/>
                <a:latin typeface="TimesNewRoman13"/>
              </a:rPr>
            </a:br>
            <a:r>
              <a:rPr lang="en-US" sz="2400" b="1" dirty="0">
                <a:effectLst/>
                <a:latin typeface="TimesNewRoman13"/>
              </a:rPr>
              <a:t>Real-time Multimodal Confidence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5996" y="2183253"/>
            <a:ext cx="90246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Technology, Dept. of Computer Science</a:t>
            </a:r>
          </a:p>
          <a:p>
            <a:pPr algn="ctr"/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Undergraduate thesis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0FA2A77-A004-4F61-9E7E-87FE64C4A2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6885716"/>
              </p:ext>
            </p:extLst>
          </p:nvPr>
        </p:nvGraphicFramePr>
        <p:xfrm>
          <a:off x="386862" y="3374252"/>
          <a:ext cx="8370276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573095">
                  <a:extLst>
                    <a:ext uri="{9D8B030D-6E8A-4147-A177-3AD203B41FA5}">
                      <a16:colId xmlns:a16="http://schemas.microsoft.com/office/drawing/2014/main" val="794581472"/>
                    </a:ext>
                  </a:extLst>
                </a:gridCol>
                <a:gridCol w="3797181">
                  <a:extLst>
                    <a:ext uri="{9D8B030D-6E8A-4147-A177-3AD203B41FA5}">
                      <a16:colId xmlns:a16="http://schemas.microsoft.com/office/drawing/2014/main" val="31062258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Student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5189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1. RUBAYET ALAM AZAN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22-46888-1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747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2. S.M. NAFEES HOSSAIN NILOY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22-47333-2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9362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3. AL FAHAD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22-47125-1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9976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4. ABDULLAH AL MARJUC TALHA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22-47294-1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3123944"/>
                  </a:ext>
                </a:extLst>
              </a:tr>
            </a:tbl>
          </a:graphicData>
        </a:graphic>
      </p:graphicFrame>
      <p:sp>
        <p:nvSpPr>
          <p:cNvPr id="5" name="Plaque 4">
            <a:extLst>
              <a:ext uri="{FF2B5EF4-FFF2-40B4-BE49-F238E27FC236}">
                <a16:creationId xmlns:a16="http://schemas.microsoft.com/office/drawing/2014/main" id="{9A472C76-B4B2-8968-048A-ACC42B8C9BDD}"/>
              </a:ext>
            </a:extLst>
          </p:cNvPr>
          <p:cNvSpPr/>
          <p:nvPr/>
        </p:nvSpPr>
        <p:spPr>
          <a:xfrm>
            <a:off x="4256185" y="6435672"/>
            <a:ext cx="631629" cy="390698"/>
          </a:xfrm>
          <a:prstGeom prst="plaqu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7754112" cy="3635657"/>
          </a:xfrm>
        </p:spPr>
        <p:txBody>
          <a:bodyPr>
            <a:normAutofit lnSpcReduction="10000"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Problem Definition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Motivation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Research Questions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Proposed Methodology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Architecture of Using Algorithm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Data Analysis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Results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Limitation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Future Work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Conclusion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Plaque 3">
            <a:extLst>
              <a:ext uri="{FF2B5EF4-FFF2-40B4-BE49-F238E27FC236}">
                <a16:creationId xmlns:a16="http://schemas.microsoft.com/office/drawing/2014/main" id="{4F1B62AE-FF34-3774-1A5C-89274C38C1C9}"/>
              </a:ext>
            </a:extLst>
          </p:cNvPr>
          <p:cNvSpPr/>
          <p:nvPr/>
        </p:nvSpPr>
        <p:spPr>
          <a:xfrm>
            <a:off x="4256185" y="6435672"/>
            <a:ext cx="631629" cy="390698"/>
          </a:xfrm>
          <a:prstGeom prst="plaqu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Problem Definition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335494" y="1588756"/>
            <a:ext cx="7754112" cy="1283705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endParaRPr lang="en-US" sz="1800" i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800" i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6217A3-E079-44BA-0357-E7C9B964A58A}"/>
              </a:ext>
            </a:extLst>
          </p:cNvPr>
          <p:cNvSpPr txBox="1"/>
          <p:nvPr/>
        </p:nvSpPr>
        <p:spPr>
          <a:xfrm>
            <a:off x="280630" y="2128126"/>
            <a:ext cx="8492912" cy="568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endParaRPr lang="en-GB" b="0" i="0" dirty="0">
              <a:effectLst/>
              <a:latin typeface="Söhne"/>
            </a:endParaRPr>
          </a:p>
        </p:txBody>
      </p:sp>
      <p:sp>
        <p:nvSpPr>
          <p:cNvPr id="8" name="Plaque 7">
            <a:extLst>
              <a:ext uri="{FF2B5EF4-FFF2-40B4-BE49-F238E27FC236}">
                <a16:creationId xmlns:a16="http://schemas.microsoft.com/office/drawing/2014/main" id="{2B3563BD-2E3C-56CC-DCC8-00E2D7D1C1CA}"/>
              </a:ext>
            </a:extLst>
          </p:cNvPr>
          <p:cNvSpPr/>
          <p:nvPr/>
        </p:nvSpPr>
        <p:spPr>
          <a:xfrm>
            <a:off x="4256185" y="6385796"/>
            <a:ext cx="631629" cy="390698"/>
          </a:xfrm>
          <a:prstGeom prst="plaqu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03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10AF3ABB-AAA4-78AA-AE4A-E78312E2A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616" y="1317167"/>
            <a:ext cx="4819066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Users’ confidence is difficult to evaluate in remote environments.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rely on single modality → low accuracy &amp; high noise sensitivity.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learning-based systems: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Expensive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Hard to interpret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Requires large datasets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Need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lightweight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interpretable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confidence detection system.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664B95-314A-4F63-9EF5-3A5C6D00C8F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9590" y="1923125"/>
            <a:ext cx="3011750" cy="301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762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 txBox="1">
            <a:spLocks/>
          </p:cNvSpPr>
          <p:nvPr/>
        </p:nvSpPr>
        <p:spPr>
          <a:xfrm>
            <a:off x="320373" y="579982"/>
            <a:ext cx="7254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Motivation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Plaque 4">
            <a:extLst>
              <a:ext uri="{FF2B5EF4-FFF2-40B4-BE49-F238E27FC236}">
                <a16:creationId xmlns:a16="http://schemas.microsoft.com/office/drawing/2014/main" id="{122C67E1-B25F-98E4-5493-47987129C876}"/>
              </a:ext>
            </a:extLst>
          </p:cNvPr>
          <p:cNvSpPr/>
          <p:nvPr/>
        </p:nvSpPr>
        <p:spPr>
          <a:xfrm>
            <a:off x="4256185" y="6402421"/>
            <a:ext cx="631629" cy="390698"/>
          </a:xfrm>
          <a:prstGeom prst="plaqu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04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E6516AA-A168-F0D9-5621-18180ACCE0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814" y="1305344"/>
            <a:ext cx="4433739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Demand for real-time feedback in: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Online interviews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Virtual classrooms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Telemedicine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training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Multimodal analysis (face + hand + voice) gives more reliable insights than unimodal systems.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rule-based, transparent system improves interpretability and ease of deployment.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63C8CB-3734-4ECB-9EE2-C7261B033E7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5718" y="1411550"/>
            <a:ext cx="3301233" cy="4523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353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AA27265-E636-01DB-F84C-B7F1130B98A9}"/>
              </a:ext>
            </a:extLst>
          </p:cNvPr>
          <p:cNvCxnSpPr/>
          <p:nvPr/>
        </p:nvCxnSpPr>
        <p:spPr>
          <a:xfrm>
            <a:off x="9014908" y="1312433"/>
            <a:ext cx="0" cy="2366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Plaque 3">
            <a:extLst>
              <a:ext uri="{FF2B5EF4-FFF2-40B4-BE49-F238E27FC236}">
                <a16:creationId xmlns:a16="http://schemas.microsoft.com/office/drawing/2014/main" id="{82DDD88F-C50D-1C79-1717-A7DC50D6E7FB}"/>
              </a:ext>
            </a:extLst>
          </p:cNvPr>
          <p:cNvSpPr/>
          <p:nvPr/>
        </p:nvSpPr>
        <p:spPr>
          <a:xfrm>
            <a:off x="4256185" y="6397215"/>
            <a:ext cx="631629" cy="390698"/>
          </a:xfrm>
          <a:prstGeom prst="plaqu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05</a:t>
            </a: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26441" y="680019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Research Questions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4862CA47-54AC-E823-8D8C-65AC8EBF1D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441" y="1549101"/>
            <a:ext cx="7148111" cy="2777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real-time behavioral signals accurately estimate confidence?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Does multimodal fusion outperform unimodal systems?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lightweight, browser-based tools achieve consistent performance?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factors correlate most strongly with human-perceived confidence?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this system be applied in practical real-world digital interactions?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3D Model 2" descr="Dark Gray Question mark">
                <a:extLst>
                  <a:ext uri="{FF2B5EF4-FFF2-40B4-BE49-F238E27FC236}">
                    <a16:creationId xmlns:a16="http://schemas.microsoft.com/office/drawing/2014/main" id="{4C0EF25B-BC41-6BCC-F3C3-F99AD1CA92DC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624253487"/>
                  </p:ext>
                </p:extLst>
              </p:nvPr>
            </p:nvGraphicFramePr>
            <p:xfrm>
              <a:off x="7369536" y="4176557"/>
              <a:ext cx="1750388" cy="2416007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1750388" cy="2416007"/>
                    </a:xfrm>
                    <a:prstGeom prst="rect">
                      <a:avLst/>
                    </a:prstGeom>
                  </am3d:spPr>
                  <am3d:camera>
                    <am3d:pos x="0" y="0" z="5538953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517042" d="1000000"/>
                    <am3d:preTrans dx="0" dy="-18004113" dz="-4973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300206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3D Model 2" descr="Dark Gray Question mark">
                <a:extLst>
                  <a:ext uri="{FF2B5EF4-FFF2-40B4-BE49-F238E27FC236}">
                    <a16:creationId xmlns:a16="http://schemas.microsoft.com/office/drawing/2014/main" id="{4C0EF25B-BC41-6BCC-F3C3-F99AD1CA92D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69536" y="4176557"/>
                <a:ext cx="1750388" cy="241600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49407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que 5">
            <a:extLst>
              <a:ext uri="{FF2B5EF4-FFF2-40B4-BE49-F238E27FC236}">
                <a16:creationId xmlns:a16="http://schemas.microsoft.com/office/drawing/2014/main" id="{11687205-FC26-BE74-4AB6-7CEF31640420}"/>
              </a:ext>
            </a:extLst>
          </p:cNvPr>
          <p:cNvSpPr/>
          <p:nvPr/>
        </p:nvSpPr>
        <p:spPr>
          <a:xfrm>
            <a:off x="4256185" y="6377484"/>
            <a:ext cx="631629" cy="390698"/>
          </a:xfrm>
          <a:prstGeom prst="plaqu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06</a:t>
            </a: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335494" y="595099"/>
            <a:ext cx="3610904" cy="614357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Proposed Methodology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pic>
        <p:nvPicPr>
          <p:cNvPr id="8" name="Picture 7" descr="A diagram of a diagram&#10;&#10;AI-generated content may be incorrect.">
            <a:extLst>
              <a:ext uri="{FF2B5EF4-FFF2-40B4-BE49-F238E27FC236}">
                <a16:creationId xmlns:a16="http://schemas.microsoft.com/office/drawing/2014/main" id="{400CEE01-BC50-E879-03B8-A95BFE760A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012" y="1457325"/>
            <a:ext cx="7419975" cy="394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353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 txBox="1">
            <a:spLocks/>
          </p:cNvSpPr>
          <p:nvPr/>
        </p:nvSpPr>
        <p:spPr>
          <a:xfrm>
            <a:off x="335494" y="1588756"/>
            <a:ext cx="7754112" cy="1283705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800" i="1">
              <a:solidFill>
                <a:schemeClr val="tx1"/>
              </a:solidFill>
              <a:cs typeface="Calibri"/>
            </a:endParaRPr>
          </a:p>
        </p:txBody>
      </p:sp>
      <p:sp>
        <p:nvSpPr>
          <p:cNvPr id="6" name="Plaque 5">
            <a:extLst>
              <a:ext uri="{FF2B5EF4-FFF2-40B4-BE49-F238E27FC236}">
                <a16:creationId xmlns:a16="http://schemas.microsoft.com/office/drawing/2014/main" id="{2A430849-80CA-7BEA-FF35-D40A7E93DBC7}"/>
              </a:ext>
            </a:extLst>
          </p:cNvPr>
          <p:cNvSpPr/>
          <p:nvPr/>
        </p:nvSpPr>
        <p:spPr>
          <a:xfrm>
            <a:off x="4256185" y="6435672"/>
            <a:ext cx="631629" cy="390698"/>
          </a:xfrm>
          <a:prstGeom prst="plaqu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C5B1C4-0586-158A-4041-B951A10F4622}"/>
              </a:ext>
            </a:extLst>
          </p:cNvPr>
          <p:cNvSpPr/>
          <p:nvPr/>
        </p:nvSpPr>
        <p:spPr>
          <a:xfrm>
            <a:off x="4821382" y="1452720"/>
            <a:ext cx="66432" cy="49107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F80BC3-5D68-3A7C-81E0-F691EC4C5EBA}"/>
              </a:ext>
            </a:extLst>
          </p:cNvPr>
          <p:cNvSpPr txBox="1"/>
          <p:nvPr/>
        </p:nvSpPr>
        <p:spPr>
          <a:xfrm>
            <a:off x="132002" y="1612015"/>
            <a:ext cx="4755812" cy="4566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Input Acquisition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Webcam Video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Facial &amp; Hand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Microphone Audio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Vocal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Questionnaire Form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15-item self-assessment score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Machine Data 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Facial Analysis: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gaze, blink rate, head pose, lip movement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 Gesture Analysis: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gesture speed, smoothness, stability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Vocal Analysis: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pitch, jitter, loudness, spectral centroid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Feature Extraction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numerical metrics from each modality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 values for scoring</a:t>
            </a:r>
          </a:p>
          <a:p>
            <a:pPr>
              <a:lnSpc>
                <a:spcPts val="2500"/>
              </a:lnSpc>
            </a:pPr>
            <a:endParaRPr lang="en-US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011E43-EC52-FC32-6006-CCF302E134F3}"/>
              </a:ext>
            </a:extLst>
          </p:cNvPr>
          <p:cNvSpPr txBox="1"/>
          <p:nvPr/>
        </p:nvSpPr>
        <p:spPr>
          <a:xfrm>
            <a:off x="410548" y="802433"/>
            <a:ext cx="50478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tx1"/>
                </a:solidFill>
              </a:rPr>
              <a:t>Architecture Of Used Models</a:t>
            </a:r>
          </a:p>
          <a:p>
            <a:endParaRPr 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A5A28B-B795-F6ED-7844-33BABD887BFC}"/>
              </a:ext>
            </a:extLst>
          </p:cNvPr>
          <p:cNvSpPr txBox="1"/>
          <p:nvPr/>
        </p:nvSpPr>
        <p:spPr>
          <a:xfrm>
            <a:off x="5020766" y="1612015"/>
            <a:ext cx="412323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Confidence Score (Weighted Fusion)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Vocal Features → </a:t>
            </a: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40%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Facial Features → </a:t>
            </a: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30%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 Gestures → </a:t>
            </a: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30%</a:t>
            </a:r>
            <a:b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Questionnaire Confidence Score (Q-Score)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Self-reported confidence from </a:t>
            </a: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 questions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validation and combined scoring</a:t>
            </a:r>
          </a:p>
          <a:p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Final Score = Machine Score (40%+30%+30%)</a:t>
            </a:r>
            <a:b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 real time confidence level</a:t>
            </a:r>
            <a:endParaRPr lang="en-US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6353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que 7">
            <a:extLst>
              <a:ext uri="{FF2B5EF4-FFF2-40B4-BE49-F238E27FC236}">
                <a16:creationId xmlns:a16="http://schemas.microsoft.com/office/drawing/2014/main" id="{89CF0F2E-9E8D-58C6-9451-3B63F8FF4388}"/>
              </a:ext>
            </a:extLst>
          </p:cNvPr>
          <p:cNvSpPr/>
          <p:nvPr/>
        </p:nvSpPr>
        <p:spPr>
          <a:xfrm>
            <a:off x="4256185" y="6435672"/>
            <a:ext cx="631629" cy="390698"/>
          </a:xfrm>
          <a:prstGeom prst="plaqu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08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EF622143-255A-4041-CF6E-37959F7611AC}"/>
              </a:ext>
            </a:extLst>
          </p:cNvPr>
          <p:cNvSpPr txBox="1">
            <a:spLocks/>
          </p:cNvSpPr>
          <p:nvPr/>
        </p:nvSpPr>
        <p:spPr>
          <a:xfrm>
            <a:off x="335494" y="595099"/>
            <a:ext cx="3610904" cy="614357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Data Analysis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BEE5B9-C538-4FBD-567A-40869D7CC0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494" y="1122897"/>
            <a:ext cx="2800831" cy="4580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GB" b="1" dirty="0">
                <a:latin typeface="Times New Roman" panose="02020603050405020304" pitchFamily="18" charset="0"/>
                <a:ea typeface="Arial" charset="0"/>
                <a:cs typeface="Times New Roman" panose="02020603050405020304" pitchFamily="18" charset="0"/>
              </a:rPr>
              <a:t>Machine Data Analysis 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090CAAD-87C8-B2E3-0425-E53BA983681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59" y="4302648"/>
            <a:ext cx="3370308" cy="2449205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F141B22-D264-BD25-AFAD-3D3EE17CA6C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203" y="4302648"/>
            <a:ext cx="3370307" cy="2449205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F6577A3-68A3-08B1-AE96-B4E27DC2C716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7733" y="1679949"/>
            <a:ext cx="3370307" cy="2516739"/>
          </a:xfrm>
          <a:prstGeom prst="rect">
            <a:avLst/>
          </a:prstGeom>
        </p:spPr>
      </p:pic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5D9C0D2-C098-6297-6B44-3FD9338D919F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58" y="1679949"/>
            <a:ext cx="3370308" cy="2516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720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F0520-403D-B4CD-90FC-BA21B46CC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que 7">
            <a:extLst>
              <a:ext uri="{FF2B5EF4-FFF2-40B4-BE49-F238E27FC236}">
                <a16:creationId xmlns:a16="http://schemas.microsoft.com/office/drawing/2014/main" id="{C85AA103-7B87-9416-FC0F-1DF572D89503}"/>
              </a:ext>
            </a:extLst>
          </p:cNvPr>
          <p:cNvSpPr/>
          <p:nvPr/>
        </p:nvSpPr>
        <p:spPr>
          <a:xfrm>
            <a:off x="4256185" y="6435672"/>
            <a:ext cx="631629" cy="390698"/>
          </a:xfrm>
          <a:prstGeom prst="plaqu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09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D90F096-40D0-1A11-43A4-1BA24633EA92}"/>
              </a:ext>
            </a:extLst>
          </p:cNvPr>
          <p:cNvSpPr txBox="1">
            <a:spLocks/>
          </p:cNvSpPr>
          <p:nvPr/>
        </p:nvSpPr>
        <p:spPr>
          <a:xfrm>
            <a:off x="335494" y="595099"/>
            <a:ext cx="3610904" cy="614357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Data Analysis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14F799-AE3B-1181-B7F3-3802D22DC0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494" y="1252291"/>
            <a:ext cx="3277564" cy="4580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GB" b="1" dirty="0">
                <a:latin typeface="Times New Roman" panose="02020603050405020304" pitchFamily="18" charset="0"/>
                <a:ea typeface="Arial" charset="0"/>
                <a:cs typeface="Times New Roman" panose="02020603050405020304" pitchFamily="18" charset="0"/>
              </a:rPr>
              <a:t>Questionnaire Data Analysis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65E3D09-5B12-E86F-F369-9EE6AB3D93C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857" y="2207837"/>
            <a:ext cx="7658284" cy="369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324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A8275-6ADB-F953-2235-27FB383B9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que 7">
            <a:extLst>
              <a:ext uri="{FF2B5EF4-FFF2-40B4-BE49-F238E27FC236}">
                <a16:creationId xmlns:a16="http://schemas.microsoft.com/office/drawing/2014/main" id="{1678C335-D66D-C8BF-9431-21AFA6761FC1}"/>
              </a:ext>
            </a:extLst>
          </p:cNvPr>
          <p:cNvSpPr/>
          <p:nvPr/>
        </p:nvSpPr>
        <p:spPr>
          <a:xfrm>
            <a:off x="4256185" y="6435672"/>
            <a:ext cx="631629" cy="390698"/>
          </a:xfrm>
          <a:prstGeom prst="plaqu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  <a:r>
              <a:rPr lang="en-US" dirty="0"/>
              <a:t>0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2D9AC593-5153-D719-2C1E-5C127180E4EC}"/>
              </a:ext>
            </a:extLst>
          </p:cNvPr>
          <p:cNvSpPr txBox="1">
            <a:spLocks/>
          </p:cNvSpPr>
          <p:nvPr/>
        </p:nvSpPr>
        <p:spPr>
          <a:xfrm>
            <a:off x="335494" y="595099"/>
            <a:ext cx="3610904" cy="614357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Data Analysis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504A20-1E56-4875-52B6-B3949A5D70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494" y="1045257"/>
            <a:ext cx="3807453" cy="4580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GB" b="1" dirty="0">
                <a:latin typeface="Times New Roman" panose="02020603050405020304" pitchFamily="18" charset="0"/>
                <a:ea typeface="Arial" charset="0"/>
                <a:cs typeface="Times New Roman" panose="02020603050405020304" pitchFamily="18" charset="0"/>
              </a:rPr>
              <a:t>Combined Confidence Evaluation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 descr="A graph on a purple background&#10;&#10;AI-generated content may be incorrect.">
            <a:extLst>
              <a:ext uri="{FF2B5EF4-FFF2-40B4-BE49-F238E27FC236}">
                <a16:creationId xmlns:a16="http://schemas.microsoft.com/office/drawing/2014/main" id="{134D95A7-87EF-475F-3933-560DB2FFF7B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628" y="1953489"/>
            <a:ext cx="7884177" cy="3619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123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49929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Result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15" name="Plaque 14">
            <a:extLst>
              <a:ext uri="{FF2B5EF4-FFF2-40B4-BE49-F238E27FC236}">
                <a16:creationId xmlns:a16="http://schemas.microsoft.com/office/drawing/2014/main" id="{4131AB70-A586-FFC7-E970-141CF696B263}"/>
              </a:ext>
            </a:extLst>
          </p:cNvPr>
          <p:cNvSpPr/>
          <p:nvPr/>
        </p:nvSpPr>
        <p:spPr>
          <a:xfrm>
            <a:off x="4256185" y="6435672"/>
            <a:ext cx="631629" cy="390698"/>
          </a:xfrm>
          <a:prstGeom prst="plaqu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  <a:r>
              <a:rPr lang="en-US" dirty="0"/>
              <a:t>1</a:t>
            </a:r>
          </a:p>
        </p:txBody>
      </p:sp>
      <p:pic>
        <p:nvPicPr>
          <p:cNvPr id="5" name="Picture 4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F50FC330-A949-8C81-CC5D-F9131F8C061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1108" y="1381003"/>
            <a:ext cx="3802465" cy="2150697"/>
          </a:xfrm>
          <a:prstGeom prst="rect">
            <a:avLst/>
          </a:prstGeom>
        </p:spPr>
      </p:pic>
      <p:pic>
        <p:nvPicPr>
          <p:cNvPr id="7" name="Picture 6" descr="A graph with blue lines and dots&#10;&#10;AI-generated content may be incorrect.">
            <a:extLst>
              <a:ext uri="{FF2B5EF4-FFF2-40B4-BE49-F238E27FC236}">
                <a16:creationId xmlns:a16="http://schemas.microsoft.com/office/drawing/2014/main" id="{45025924-FE02-5D49-B064-35F4490200B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979" y="3531701"/>
            <a:ext cx="5595828" cy="2903972"/>
          </a:xfrm>
          <a:prstGeom prst="rect">
            <a:avLst/>
          </a:prstGeom>
        </p:spPr>
      </p:pic>
      <p:pic>
        <p:nvPicPr>
          <p:cNvPr id="13" name="Picture 12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127F29A8-9098-2E60-C518-6C1957C88034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933" y="1381003"/>
            <a:ext cx="3610959" cy="2150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3532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49929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Result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15" name="Plaque 14">
            <a:extLst>
              <a:ext uri="{FF2B5EF4-FFF2-40B4-BE49-F238E27FC236}">
                <a16:creationId xmlns:a16="http://schemas.microsoft.com/office/drawing/2014/main" id="{4131AB70-A586-FFC7-E970-141CF696B263}"/>
              </a:ext>
            </a:extLst>
          </p:cNvPr>
          <p:cNvSpPr/>
          <p:nvPr/>
        </p:nvSpPr>
        <p:spPr>
          <a:xfrm>
            <a:off x="4256185" y="6435672"/>
            <a:ext cx="631629" cy="390698"/>
          </a:xfrm>
          <a:prstGeom prst="plaqu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  <a:r>
              <a:rPr lang="en-US" dirty="0"/>
              <a:t>2</a:t>
            </a:r>
          </a:p>
        </p:txBody>
      </p:sp>
      <p:pic>
        <p:nvPicPr>
          <p:cNvPr id="7" name="Picture 6" descr="A graph showing different colored squares&#10;&#10;AI-generated content may be incorrect.">
            <a:extLst>
              <a:ext uri="{FF2B5EF4-FFF2-40B4-BE49-F238E27FC236}">
                <a16:creationId xmlns:a16="http://schemas.microsoft.com/office/drawing/2014/main" id="{6E5057EA-4242-E855-9D20-9BF153A51FD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4227" y="1341178"/>
            <a:ext cx="3973133" cy="2305687"/>
          </a:xfrm>
          <a:prstGeom prst="rect">
            <a:avLst/>
          </a:prstGeom>
        </p:spPr>
      </p:pic>
      <p:pic>
        <p:nvPicPr>
          <p:cNvPr id="10" name="Picture 9" descr="A graph of a graph showing different colored squares&#10;&#10;AI-generated content may be incorrect.">
            <a:extLst>
              <a:ext uri="{FF2B5EF4-FFF2-40B4-BE49-F238E27FC236}">
                <a16:creationId xmlns:a16="http://schemas.microsoft.com/office/drawing/2014/main" id="{0FBA3F45-5C73-82C5-EB54-283F7CB0907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539" y="3614783"/>
            <a:ext cx="5962919" cy="2820889"/>
          </a:xfrm>
          <a:prstGeom prst="rect">
            <a:avLst/>
          </a:prstGeom>
        </p:spPr>
      </p:pic>
      <p:pic>
        <p:nvPicPr>
          <p:cNvPr id="13" name="Picture 12" descr="A graph of a person with a pink and blue bar&#10;&#10;AI-generated content may be incorrect.">
            <a:extLst>
              <a:ext uri="{FF2B5EF4-FFF2-40B4-BE49-F238E27FC236}">
                <a16:creationId xmlns:a16="http://schemas.microsoft.com/office/drawing/2014/main" id="{A661BE94-259A-25CE-237F-A668E6CAE9D7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294" y="1338654"/>
            <a:ext cx="3790639" cy="2192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1378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 txBox="1">
            <a:spLocks/>
          </p:cNvSpPr>
          <p:nvPr/>
        </p:nvSpPr>
        <p:spPr>
          <a:xfrm>
            <a:off x="335494" y="1088514"/>
            <a:ext cx="8584571" cy="511995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800" b="0" i="0" dirty="0">
                <a:solidFill>
                  <a:schemeClr val="tx1"/>
                </a:solidFill>
                <a:effectLst/>
              </a:rPr>
              <a:t>  </a:t>
            </a:r>
          </a:p>
          <a:p>
            <a:pPr>
              <a:buFont typeface="Wingdings" pitchFamily="2" charset="2"/>
              <a:buChar char="q"/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Result</a:t>
            </a:r>
          </a:p>
        </p:txBody>
      </p: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BCB562C0-9A15-405F-25EE-5A4DCDFFC4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6369906"/>
              </p:ext>
            </p:extLst>
          </p:nvPr>
        </p:nvGraphicFramePr>
        <p:xfrm>
          <a:off x="354565" y="1472850"/>
          <a:ext cx="6153240" cy="388654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153240">
                  <a:extLst>
                    <a:ext uri="{9D8B030D-6E8A-4147-A177-3AD203B41FA5}">
                      <a16:colId xmlns:a16="http://schemas.microsoft.com/office/drawing/2014/main" val="103579861"/>
                    </a:ext>
                  </a:extLst>
                </a:gridCol>
              </a:tblGrid>
              <a:tr h="33711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Overall Modality Performance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2124291"/>
                  </a:ext>
                </a:extLst>
              </a:tr>
              <a:tr h="1557622">
                <a:tc>
                  <a:txBody>
                    <a:bodyPr/>
                    <a:lstStyle/>
                    <a:p>
                      <a:r>
                        <a:rPr lang="en-GB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Face Confidence:</a:t>
                      </a:r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80.13%</a:t>
                      </a:r>
                    </a:p>
                    <a:p>
                      <a:r>
                        <a:rPr lang="en-GB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Hand Confidence:</a:t>
                      </a:r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68.81%</a:t>
                      </a:r>
                    </a:p>
                    <a:p>
                      <a:r>
                        <a:rPr lang="en-GB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Voice Confidence:</a:t>
                      </a:r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64.87%</a:t>
                      </a:r>
                      <a:b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b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GB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Facial cues</a:t>
                      </a:r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contributed the most stable &amp; accurate confidence signals.</a:t>
                      </a:r>
                      <a:b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GB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Accuracy: 94.97%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0271470"/>
                  </a:ext>
                </a:extLst>
              </a:tr>
              <a:tr h="1963167">
                <a:tc>
                  <a:txBody>
                    <a:bodyPr/>
                    <a:lstStyle/>
                    <a:p>
                      <a:r>
                        <a:rPr lang="en-GB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Demographic Insights</a:t>
                      </a:r>
                    </a:p>
                    <a:p>
                      <a:r>
                        <a:rPr lang="en-GB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Gender:</a:t>
                      </a:r>
                      <a:endParaRPr lang="en-GB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Male: 76% | Female: 68%</a:t>
                      </a:r>
                      <a:b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Slight male advantage in non-verbal stability.</a:t>
                      </a:r>
                    </a:p>
                    <a:p>
                      <a:r>
                        <a:rPr lang="en-GB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Profession:</a:t>
                      </a:r>
                      <a:endParaRPr lang="en-GB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Employees, Graduates, Students all scored </a:t>
                      </a:r>
                      <a:r>
                        <a:rPr lang="en-GB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72–74%</a:t>
                      </a:r>
                      <a:b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major profession bias detected.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8294238"/>
                  </a:ext>
                </a:extLst>
              </a:tr>
            </a:tbl>
          </a:graphicData>
        </a:graphic>
      </p:graphicFrame>
      <p:sp>
        <p:nvSpPr>
          <p:cNvPr id="6" name="Plaque 5">
            <a:extLst>
              <a:ext uri="{FF2B5EF4-FFF2-40B4-BE49-F238E27FC236}">
                <a16:creationId xmlns:a16="http://schemas.microsoft.com/office/drawing/2014/main" id="{1D7F8B12-5676-3252-B235-618D60312DEE}"/>
              </a:ext>
            </a:extLst>
          </p:cNvPr>
          <p:cNvSpPr/>
          <p:nvPr/>
        </p:nvSpPr>
        <p:spPr>
          <a:xfrm>
            <a:off x="4171716" y="6228850"/>
            <a:ext cx="709127" cy="503853"/>
          </a:xfrm>
          <a:prstGeom prst="plaqu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6908077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 txBox="1">
            <a:spLocks/>
          </p:cNvSpPr>
          <p:nvPr/>
        </p:nvSpPr>
        <p:spPr>
          <a:xfrm>
            <a:off x="335494" y="1588756"/>
            <a:ext cx="7754112" cy="1950510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1800" b="0" i="0" dirty="0">
              <a:solidFill>
                <a:srgbClr val="374151"/>
              </a:solidFill>
              <a:effectLst/>
            </a:endParaRPr>
          </a:p>
          <a:p>
            <a:pPr>
              <a:buFont typeface="Wingdings" pitchFamily="2" charset="2"/>
              <a:buChar char="q"/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Limitations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7" name="Plaque 6">
            <a:extLst>
              <a:ext uri="{FF2B5EF4-FFF2-40B4-BE49-F238E27FC236}">
                <a16:creationId xmlns:a16="http://schemas.microsoft.com/office/drawing/2014/main" id="{91C6F7A8-F5D8-4C10-39FA-00C4A0FFCD07}"/>
              </a:ext>
            </a:extLst>
          </p:cNvPr>
          <p:cNvSpPr/>
          <p:nvPr/>
        </p:nvSpPr>
        <p:spPr>
          <a:xfrm>
            <a:off x="4171716" y="6228850"/>
            <a:ext cx="709127" cy="503853"/>
          </a:xfrm>
          <a:prstGeom prst="plaqu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14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08067C9-76E6-E9BC-4097-F6D4809562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208" y="1039435"/>
            <a:ext cx="4528291" cy="1894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size limited (100 participants).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Lighting variation affects detection accuracy.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performance varies with webcam quality.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Complex emotional states still difficult to detect.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cultural &amp; demographic data diversity.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14DAD55B-E3C7-F20F-47BB-BED995B97BBA}"/>
              </a:ext>
            </a:extLst>
          </p:cNvPr>
          <p:cNvSpPr txBox="1">
            <a:spLocks/>
          </p:cNvSpPr>
          <p:nvPr/>
        </p:nvSpPr>
        <p:spPr>
          <a:xfrm>
            <a:off x="335494" y="2990091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Future work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A8AF7D-31F0-F1A6-901A-089B778C99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208" y="3539266"/>
            <a:ext cx="4592924" cy="2264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Multi-face detection for group meetings.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Advanced hand gesture classification.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Eyebrow movement &amp; micro-expression analysis.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More visual overlays and real-time coaching.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 on larger, culturally diverse datasets.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Mobile app implementation.</a:t>
            </a:r>
          </a:p>
        </p:txBody>
      </p:sp>
      <p:pic>
        <p:nvPicPr>
          <p:cNvPr id="11" name="Picture 10" descr="A person sitting at a desk with a computer&#10;&#10;AI-generated content may be incorrect.">
            <a:extLst>
              <a:ext uri="{FF2B5EF4-FFF2-40B4-BE49-F238E27FC236}">
                <a16:creationId xmlns:a16="http://schemas.microsoft.com/office/drawing/2014/main" id="{A52CC47C-5FE7-A059-AE2D-A53C8C5FB14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14" r="6183"/>
          <a:stretch>
            <a:fillRect/>
          </a:stretch>
        </p:blipFill>
        <p:spPr>
          <a:xfrm>
            <a:off x="5309912" y="854767"/>
            <a:ext cx="2354166" cy="2264084"/>
          </a:xfrm>
          <a:prstGeom prst="rect">
            <a:avLst/>
          </a:prstGeom>
        </p:spPr>
      </p:pic>
      <p:pic>
        <p:nvPicPr>
          <p:cNvPr id="13" name="Picture 12" descr="A hand writing on a white board&#10;&#10;AI-generated content may be incorrect.">
            <a:extLst>
              <a:ext uri="{FF2B5EF4-FFF2-40B4-BE49-F238E27FC236}">
                <a16:creationId xmlns:a16="http://schemas.microsoft.com/office/drawing/2014/main" id="{3E5F3FA5-FDC9-08C0-051E-83469556118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9073" y="3579145"/>
            <a:ext cx="2195844" cy="218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3532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Conclusion</a:t>
            </a:r>
          </a:p>
        </p:txBody>
      </p:sp>
      <p:sp>
        <p:nvSpPr>
          <p:cNvPr id="5" name="Plaque 4">
            <a:extLst>
              <a:ext uri="{FF2B5EF4-FFF2-40B4-BE49-F238E27FC236}">
                <a16:creationId xmlns:a16="http://schemas.microsoft.com/office/drawing/2014/main" id="{0ABA9452-B15B-6DE1-7838-FAFC8CA08B3F}"/>
              </a:ext>
            </a:extLst>
          </p:cNvPr>
          <p:cNvSpPr/>
          <p:nvPr/>
        </p:nvSpPr>
        <p:spPr>
          <a:xfrm>
            <a:off x="4171716" y="6228850"/>
            <a:ext cx="709127" cy="503853"/>
          </a:xfrm>
          <a:prstGeom prst="plaqu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15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B35E225-F835-0E2B-C7B3-9439E0FE9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494" y="1656005"/>
            <a:ext cx="6630982" cy="2120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Developed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multimodal confidence detection system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Integrates facial, hand, and vocal cues →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Lightweight, interpretable, browser-based solution.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Useful for online interviews, virtual learning, public speaking.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Sets foundation for future research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behavioral AI &amp; HCI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872285-944E-1BEC-9B2B-C35B0004DC31}"/>
              </a:ext>
            </a:extLst>
          </p:cNvPr>
          <p:cNvSpPr txBox="1"/>
          <p:nvPr/>
        </p:nvSpPr>
        <p:spPr>
          <a:xfrm>
            <a:off x="917088" y="769383"/>
            <a:ext cx="7218381" cy="58015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ts val="3167"/>
              </a:lnSpc>
              <a:spcAft>
                <a:spcPts val="1000"/>
              </a:spcAft>
              <a:buClr>
                <a:schemeClr val="tx2"/>
              </a:buClr>
              <a:defRPr/>
            </a:pPr>
            <a:endParaRPr lang="en-US" sz="1200" dirty="0">
              <a:latin typeface="Times New Roman" panose="02020603050405020304" pitchFamily="18" charset="0"/>
              <a:ea typeface="Arial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Clr>
                <a:schemeClr val="tx2"/>
              </a:buClr>
              <a:buFont typeface="+mj-lt"/>
              <a:buAutoNum type="arabicPeriod"/>
              <a:defRPr/>
            </a:pPr>
            <a:r>
              <a:rPr lang="en-US" sz="1200" dirty="0">
                <a:latin typeface="Times New Roman" panose="02020603050405020304" pitchFamily="18" charset="0"/>
                <a:ea typeface="Arial" charset="0"/>
                <a:cs typeface="Times New Roman" panose="02020603050405020304" pitchFamily="18" charset="0"/>
              </a:rPr>
              <a:t>  </a:t>
            </a:r>
            <a:r>
              <a:rPr lang="en-GB" sz="1400" dirty="0">
                <a:latin typeface="Times New Roman" panose="02020603050405020304" pitchFamily="18" charset="0"/>
                <a:ea typeface="Arial" charset="0"/>
                <a:cs typeface="Times New Roman" panose="02020603050405020304" pitchFamily="18" charset="0"/>
              </a:rPr>
              <a:t> </a:t>
            </a:r>
            <a:r>
              <a:rPr lang="en-GB" sz="1200" dirty="0">
                <a:latin typeface="Times New Roman" panose="02020603050405020304" pitchFamily="18" charset="0"/>
                <a:ea typeface="Arial" charset="0"/>
                <a:cs typeface="Times New Roman" panose="02020603050405020304" pitchFamily="18" charset="0"/>
              </a:rPr>
              <a:t>M. Archana, C. Nitish, S. Harikumar, Real time face detection and optimal face mapping for online classes, in: Journal of Physics: Conference Series, Vol. 2161, IOP Publishing, 2022, p.012063.</a:t>
            </a:r>
            <a:endParaRPr lang="en-US" sz="1200" dirty="0">
              <a:latin typeface="Times New Roman" panose="02020603050405020304" pitchFamily="18" charset="0"/>
              <a:ea typeface="Arial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Clr>
                <a:schemeClr val="tx2"/>
              </a:buClr>
              <a:buFont typeface="+mj-lt"/>
              <a:buAutoNum type="arabicPeriod"/>
              <a:defRPr/>
            </a:pPr>
            <a:r>
              <a:rPr lang="en-US" sz="1400" dirty="0">
                <a:latin typeface="Times New Roman" panose="02020603050405020304" pitchFamily="18" charset="0"/>
                <a:ea typeface="Arial" charset="0"/>
                <a:cs typeface="Times New Roman" panose="02020603050405020304" pitchFamily="18" charset="0"/>
              </a:rPr>
              <a:t>  </a:t>
            </a:r>
            <a:r>
              <a:rPr lang="en-US" sz="1200" dirty="0">
                <a:latin typeface="Times New Roman" panose="02020603050405020304" pitchFamily="18" charset="0"/>
                <a:ea typeface="Arial" charset="0"/>
                <a:cs typeface="Times New Roman" panose="02020603050405020304" pitchFamily="18" charset="0"/>
              </a:rPr>
              <a:t>C. Zheng, W. Wu, C. Chen, T. Yang, S. Zhu, J. Shen, N. </a:t>
            </a:r>
            <a:r>
              <a:rPr lang="en-US" sz="1200" dirty="0" err="1">
                <a:latin typeface="Times New Roman" panose="02020603050405020304" pitchFamily="18" charset="0"/>
                <a:ea typeface="Arial" charset="0"/>
                <a:cs typeface="Times New Roman" panose="02020603050405020304" pitchFamily="18" charset="0"/>
              </a:rPr>
              <a:t>Kehtarnavaz</a:t>
            </a:r>
            <a:r>
              <a:rPr lang="en-US" sz="1200" dirty="0">
                <a:latin typeface="Times New Roman" panose="02020603050405020304" pitchFamily="18" charset="0"/>
                <a:ea typeface="Arial" charset="0"/>
                <a:cs typeface="Times New Roman" panose="02020603050405020304" pitchFamily="18" charset="0"/>
              </a:rPr>
              <a:t>, M. Shah, Deep </a:t>
            </a:r>
            <a:r>
              <a:rPr lang="en-US" sz="1200" dirty="0" err="1">
                <a:latin typeface="Times New Roman" panose="02020603050405020304" pitchFamily="18" charset="0"/>
                <a:ea typeface="Arial" charset="0"/>
                <a:cs typeface="Times New Roman" panose="02020603050405020304" pitchFamily="18" charset="0"/>
              </a:rPr>
              <a:t>learningbased</a:t>
            </a:r>
            <a:r>
              <a:rPr lang="en-US" sz="1200" dirty="0">
                <a:latin typeface="Times New Roman" panose="02020603050405020304" pitchFamily="18" charset="0"/>
                <a:ea typeface="Arial" charset="0"/>
                <a:cs typeface="Times New Roman" panose="02020603050405020304" pitchFamily="18" charset="0"/>
              </a:rPr>
              <a:t> human pose estimation: A survey, ACM Computing Surveys 56 (1) (2023) 1–37.</a:t>
            </a:r>
            <a:endParaRPr lang="en-US" sz="1400" dirty="0">
              <a:latin typeface="Times New Roman" panose="02020603050405020304" pitchFamily="18" charset="0"/>
              <a:ea typeface="Arial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Clr>
                <a:schemeClr val="tx2"/>
              </a:buClr>
              <a:buFont typeface="+mj-lt"/>
              <a:buAutoNum type="arabicPeriod"/>
              <a:defRPr/>
            </a:pPr>
            <a:r>
              <a:rPr lang="en-US" sz="1200" dirty="0">
                <a:latin typeface="Times New Roman" panose="02020603050405020304" pitchFamily="18" charset="0"/>
                <a:ea typeface="Arial" charset="0"/>
                <a:cs typeface="Times New Roman" panose="02020603050405020304" pitchFamily="18" charset="0"/>
              </a:rPr>
              <a:t>   Zhu, X., Liu, Z., Cambria, E., Yu, X., Fan, X., Chen, H., &amp; Wang, R. (2024). A client-server based recognition system: Non-contact single/multiple emotional and behavioral state assessment methods. Computer methods and programs in biomedicine, 260, 108564</a:t>
            </a:r>
            <a:r>
              <a:rPr lang="en-GB" sz="1200" dirty="0">
                <a:latin typeface="Times New Roman" panose="02020603050405020304" pitchFamily="18" charset="0"/>
                <a:ea typeface="Arial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buClr>
                <a:schemeClr val="tx2"/>
              </a:buClr>
              <a:buFont typeface="+mj-lt"/>
              <a:buAutoNum type="arabicPeriod"/>
              <a:defRPr/>
            </a:pPr>
            <a:r>
              <a:rPr lang="en-US" sz="1200" dirty="0">
                <a:latin typeface="Times New Roman" panose="02020603050405020304" pitchFamily="18" charset="0"/>
                <a:ea typeface="Arial" charset="0"/>
                <a:cs typeface="Times New Roman" panose="02020603050405020304" pitchFamily="18" charset="0"/>
              </a:rPr>
              <a:t>    </a:t>
            </a:r>
            <a:r>
              <a:rPr lang="en-GB" sz="1200" dirty="0">
                <a:latin typeface="Times New Roman" panose="02020603050405020304" pitchFamily="18" charset="0"/>
                <a:ea typeface="Arial" charset="0"/>
                <a:cs typeface="Times New Roman" panose="02020603050405020304" pitchFamily="18" charset="0"/>
              </a:rPr>
              <a:t>Sakib, T., </a:t>
            </a:r>
            <a:r>
              <a:rPr lang="en-GB" sz="1200" dirty="0" err="1">
                <a:latin typeface="Times New Roman" panose="02020603050405020304" pitchFamily="18" charset="0"/>
                <a:ea typeface="Arial" charset="0"/>
                <a:cs typeface="Times New Roman" panose="02020603050405020304" pitchFamily="18" charset="0"/>
              </a:rPr>
              <a:t>Mojumder</a:t>
            </a:r>
            <a:r>
              <a:rPr lang="en-GB" sz="1200" dirty="0">
                <a:latin typeface="Times New Roman" panose="02020603050405020304" pitchFamily="18" charset="0"/>
                <a:ea typeface="Arial" charset="0"/>
                <a:cs typeface="Times New Roman" panose="02020603050405020304" pitchFamily="18" charset="0"/>
              </a:rPr>
              <a:t>, S., Gupta, R., </a:t>
            </a:r>
            <a:r>
              <a:rPr lang="en-GB" sz="1200" dirty="0" err="1">
                <a:latin typeface="Times New Roman" panose="02020603050405020304" pitchFamily="18" charset="0"/>
                <a:ea typeface="Arial" charset="0"/>
                <a:cs typeface="Times New Roman" panose="02020603050405020304" pitchFamily="18" charset="0"/>
              </a:rPr>
              <a:t>Showmick</a:t>
            </a:r>
            <a:r>
              <a:rPr lang="en-GB" sz="1200" dirty="0">
                <a:latin typeface="Times New Roman" panose="02020603050405020304" pitchFamily="18" charset="0"/>
                <a:ea typeface="Arial" charset="0"/>
                <a:cs typeface="Times New Roman" panose="02020603050405020304" pitchFamily="18" charset="0"/>
              </a:rPr>
              <a:t>, M., Rahat, M., &amp; Hossen, M. (2025). Real-Time Confidence Detection through Facial Expressions and Hand Gestures. </a:t>
            </a:r>
            <a:r>
              <a:rPr lang="en-GB" sz="1200" dirty="0" err="1">
                <a:latin typeface="Times New Roman" panose="02020603050405020304" pitchFamily="18" charset="0"/>
                <a:ea typeface="Arial" charset="0"/>
                <a:cs typeface="Times New Roman" panose="02020603050405020304" pitchFamily="18" charset="0"/>
              </a:rPr>
              <a:t>ArXiv</a:t>
            </a:r>
            <a:r>
              <a:rPr lang="en-GB" sz="1200" dirty="0">
                <a:latin typeface="Times New Roman" panose="02020603050405020304" pitchFamily="18" charset="0"/>
                <a:ea typeface="Arial" charset="0"/>
                <a:cs typeface="Times New Roman" panose="02020603050405020304" pitchFamily="18" charset="0"/>
              </a:rPr>
              <a:t>, abs/2506.09153</a:t>
            </a:r>
            <a:r>
              <a:rPr lang="en-US" sz="1200" dirty="0">
                <a:latin typeface="Times New Roman" panose="02020603050405020304" pitchFamily="18" charset="0"/>
                <a:ea typeface="Arial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buClr>
                <a:schemeClr val="tx2"/>
              </a:buClr>
              <a:buFont typeface="+mj-lt"/>
              <a:buAutoNum type="arabicPeriod"/>
              <a:defRPr/>
            </a:pPr>
            <a:r>
              <a:rPr lang="en-US" sz="1200" dirty="0">
                <a:latin typeface="Times New Roman" panose="02020603050405020304" pitchFamily="18" charset="0"/>
                <a:ea typeface="Arial" charset="0"/>
                <a:cs typeface="Times New Roman" panose="02020603050405020304" pitchFamily="18" charset="0"/>
              </a:rPr>
              <a:t>    Rani, K., Muralidhar, A., Rao, G., Shareef, S., Sudheer, P., &amp; </a:t>
            </a:r>
            <a:r>
              <a:rPr lang="en-US" sz="1200" dirty="0" err="1">
                <a:latin typeface="Times New Roman" panose="02020603050405020304" pitchFamily="18" charset="0"/>
                <a:ea typeface="Arial" charset="0"/>
                <a:cs typeface="Times New Roman" panose="02020603050405020304" pitchFamily="18" charset="0"/>
              </a:rPr>
              <a:t>Bhavsingh</a:t>
            </a:r>
            <a:r>
              <a:rPr lang="en-US" sz="1200" dirty="0">
                <a:latin typeface="Times New Roman" panose="02020603050405020304" pitchFamily="18" charset="0"/>
                <a:ea typeface="Arial" charset="0"/>
                <a:cs typeface="Times New Roman" panose="02020603050405020304" pitchFamily="18" charset="0"/>
              </a:rPr>
              <a:t>, M. (2025). Real-Time Emotion Detection in Live Video Streams using Multimodal Deep Learning Architectures. 2025 5th International Conference on Pervasive Computing and Social Networking (ICPCSN), 1445-1452. </a:t>
            </a:r>
          </a:p>
          <a:p>
            <a:pPr algn="just">
              <a:lnSpc>
                <a:spcPct val="150000"/>
              </a:lnSpc>
              <a:buClr>
                <a:schemeClr val="tx2"/>
              </a:buClr>
              <a:buFont typeface="+mj-lt"/>
              <a:buAutoNum type="arabicPeriod"/>
              <a:defRPr/>
            </a:pPr>
            <a:r>
              <a:rPr lang="en-US" sz="1200" dirty="0">
                <a:latin typeface="Times New Roman" panose="02020603050405020304" pitchFamily="18" charset="0"/>
                <a:ea typeface="Arial" charset="0"/>
                <a:cs typeface="Times New Roman" panose="02020603050405020304" pitchFamily="18" charset="0"/>
              </a:rPr>
              <a:t>    </a:t>
            </a:r>
            <a:r>
              <a:rPr lang="en-GB" sz="1200" dirty="0">
                <a:latin typeface="Times New Roman" panose="02020603050405020304" pitchFamily="18" charset="0"/>
                <a:ea typeface="Arial" charset="0"/>
                <a:cs typeface="Times New Roman" panose="02020603050405020304" pitchFamily="18" charset="0"/>
              </a:rPr>
              <a:t>Kraack, K. (2024). A Multimodal Emotion Recognition System: Integrating Facial Expressions, Body Movement, Speech, and Spoken Language. </a:t>
            </a:r>
            <a:r>
              <a:rPr lang="en-GB" sz="1200" dirty="0" err="1">
                <a:latin typeface="Times New Roman" panose="02020603050405020304" pitchFamily="18" charset="0"/>
                <a:ea typeface="Arial" charset="0"/>
                <a:cs typeface="Times New Roman" panose="02020603050405020304" pitchFamily="18" charset="0"/>
              </a:rPr>
              <a:t>ArXiv</a:t>
            </a:r>
            <a:r>
              <a:rPr lang="en-GB" sz="1200" dirty="0">
                <a:latin typeface="Times New Roman" panose="02020603050405020304" pitchFamily="18" charset="0"/>
                <a:ea typeface="Arial" charset="0"/>
                <a:cs typeface="Times New Roman" panose="02020603050405020304" pitchFamily="18" charset="0"/>
              </a:rPr>
              <a:t>, abs/2412.17907.</a:t>
            </a:r>
            <a:endParaRPr lang="en-US" sz="1200" dirty="0">
              <a:latin typeface="Times New Roman" panose="02020603050405020304" pitchFamily="18" charset="0"/>
              <a:ea typeface="Arial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Clr>
                <a:schemeClr val="tx2"/>
              </a:buClr>
              <a:buFont typeface="+mj-lt"/>
              <a:buAutoNum type="arabicPeriod"/>
              <a:defRPr/>
            </a:pPr>
            <a:r>
              <a:rPr lang="en-US" sz="1200" dirty="0">
                <a:latin typeface="Times New Roman" panose="02020603050405020304" pitchFamily="18" charset="0"/>
                <a:ea typeface="Arial" charset="0"/>
                <a:cs typeface="Times New Roman" panose="02020603050405020304" pitchFamily="18" charset="0"/>
              </a:rPr>
              <a:t>    Villegas-Ch., W., Gutierrez, R., &amp; Mera-Navarrete, A. (2025). Multimodal Emotional Detection System for Virtual Educational Environments: Integration Into Microsoft Teams to Improve Student Engagement. IEEE Access, 13, 42910-42933.</a:t>
            </a:r>
          </a:p>
          <a:p>
            <a:pPr algn="just"/>
            <a:endParaRPr lang="en-GB" sz="1200" b="0" i="0" dirty="0">
              <a:effectLst/>
              <a:latin typeface="Söhne"/>
            </a:endParaRPr>
          </a:p>
          <a:p>
            <a:pPr algn="just"/>
            <a:endParaRPr lang="en-GB" sz="1200" b="0" i="0" dirty="0">
              <a:solidFill>
                <a:srgbClr val="374151"/>
              </a:solidFill>
              <a:effectLst/>
              <a:latin typeface="Söhne"/>
            </a:endParaRPr>
          </a:p>
        </p:txBody>
      </p:sp>
      <p:sp>
        <p:nvSpPr>
          <p:cNvPr id="5" name="Plaque 4">
            <a:extLst>
              <a:ext uri="{FF2B5EF4-FFF2-40B4-BE49-F238E27FC236}">
                <a16:creationId xmlns:a16="http://schemas.microsoft.com/office/drawing/2014/main" id="{EE1A2CC5-DFBA-1EF4-FF74-0DCC94531F93}"/>
              </a:ext>
            </a:extLst>
          </p:cNvPr>
          <p:cNvSpPr/>
          <p:nvPr/>
        </p:nvSpPr>
        <p:spPr>
          <a:xfrm>
            <a:off x="4171716" y="6228850"/>
            <a:ext cx="709127" cy="503853"/>
          </a:xfrm>
          <a:prstGeom prst="plaqu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883292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D78FB-6E48-06B1-7D29-45E4D0EF22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7512" y="3429000"/>
            <a:ext cx="7808976" cy="1088136"/>
          </a:xfrm>
        </p:spPr>
        <p:txBody>
          <a:bodyPr>
            <a:normAutofit/>
          </a:bodyPr>
          <a:lstStyle/>
          <a:p>
            <a:pPr algn="ctr"/>
            <a:r>
              <a:rPr lang="en-US" sz="6600" dirty="0">
                <a:solidFill>
                  <a:schemeClr val="tx1"/>
                </a:solidFill>
                <a:latin typeface="American Captain" pitchFamily="50" charset="0"/>
              </a:rPr>
              <a:t>Thank you</a:t>
            </a:r>
          </a:p>
        </p:txBody>
      </p:sp>
      <p:sp>
        <p:nvSpPr>
          <p:cNvPr id="4" name="Plaque 3">
            <a:extLst>
              <a:ext uri="{FF2B5EF4-FFF2-40B4-BE49-F238E27FC236}">
                <a16:creationId xmlns:a16="http://schemas.microsoft.com/office/drawing/2014/main" id="{479D705F-BEB5-1A0E-A866-ED78A84F1BA0}"/>
              </a:ext>
            </a:extLst>
          </p:cNvPr>
          <p:cNvSpPr/>
          <p:nvPr/>
        </p:nvSpPr>
        <p:spPr>
          <a:xfrm>
            <a:off x="4339244" y="6417425"/>
            <a:ext cx="649664" cy="440575"/>
          </a:xfrm>
          <a:prstGeom prst="plaqu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749377831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1203</TotalTime>
  <Words>950</Words>
  <Application>Microsoft Office PowerPoint</Application>
  <PresentationFormat>On-screen Show (4:3)</PresentationFormat>
  <Paragraphs>138</Paragraphs>
  <Slides>17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American Captain</vt:lpstr>
      <vt:lpstr>Arial</vt:lpstr>
      <vt:lpstr>Calibri</vt:lpstr>
      <vt:lpstr>Corbel</vt:lpstr>
      <vt:lpstr>Söhne</vt:lpstr>
      <vt:lpstr>Times New Roman</vt:lpstr>
      <vt:lpstr>TimesNewRoman13</vt:lpstr>
      <vt:lpstr>Wingdings</vt:lpstr>
      <vt:lpstr>Spectrum</vt:lpstr>
      <vt:lpstr>Confidence Detection System Real-time Multimodal Confidence Analysis</vt:lpstr>
      <vt:lpstr>Content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Rubayet Alam Azan</dc:creator>
  <cp:lastModifiedBy>ABDULLAH AL MARJUC TALHA</cp:lastModifiedBy>
  <cp:revision>89</cp:revision>
  <dcterms:created xsi:type="dcterms:W3CDTF">2018-12-10T17:20:29Z</dcterms:created>
  <dcterms:modified xsi:type="dcterms:W3CDTF">2025-12-04T06:19:38Z</dcterms:modified>
</cp:coreProperties>
</file>